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555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different types of sample information are hard to review together. The project aims to organize them and show possible links for a person to inspect. It does not make decisions about people.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app accepts notes, traffic values, and small file-byte samples. Notes use a rule-based pattern extractor. Only the traffic and file workflows use trained classifiers. The findings can be reviewed in the case graph and entity/relationship tables.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the Streamlit demo, the interface calls the project's Python services directly in the same local app. Pydantic validates submitted values. Traffic and file samples use the saved classifiers; notes use local text patterns. Case data and links are saved in SQLite and displayed with Streamlit's Graphviz visualization and data tables. This demo does not send frontend-to-backend HTTP API requests.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two trained classifiers integrated into the application. The Streamlit form accepts one flow with 15 values; the inference service scales it and repeats it across the model's 8-step input window. The file model reads a hexadecimal sample. Both use 50 epochs in the current training scripts. The examples are generated; the original named datasets were not used in the standard training runs.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metrics are test scores on generated benchmark examples. Traffic accuracy is 98.40 percent and F1 is 99.18 percent. File accuracy and F1 are 99.92 percent. Because the examples are generated, these numbers do not show how the models would perform on real forensic data. The graph is an illustration of the fictional seeded case: 10 entities and 11 links. Future work includes real-data evaluation, independent validation, and stronger security and storage.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58609"/>
            <a:ext cx="10972800" cy="486287"/>
          </a:xfrm>
          <a:prstGeom prst="rect">
            <a:avLst/>
          </a:prstGeom>
          <a:noFill/>
        </p:spPr>
        <p:txBody>
          <a:bodyPr wrap="square" lIns="45720" tIns="32004" rIns="45720" bIns="22860" anchor="ctr">
            <a:spAutoFit/>
          </a:bodyPr>
          <a:lstStyle/>
          <a:p>
            <a:pPr algn="l">
              <a:defRPr sz="800" b="1">
                <a:solidFill>
                  <a:srgbClr val="168A8A"/>
                </a:solidFill>
                <a:latin typeface="Aptos"/>
              </a:defRPr>
            </a:pPr>
            <a:r>
              <a:rPr sz="2800" dirty="0"/>
              <a:t>CRIMEGRAPH AI    </a:t>
            </a:r>
            <a:r>
              <a:rPr lang="en-IN" sz="2800" dirty="0"/>
              <a:t> </a:t>
            </a:r>
            <a:r>
              <a:rPr dirty="0"/>
              <a:t>01 / 5</a:t>
            </a:r>
          </a:p>
        </p:txBody>
      </p:sp>
      <p:sp>
        <p:nvSpPr>
          <p:cNvPr id="3" name="TextBox 2"/>
          <p:cNvSpPr txBox="1"/>
          <p:nvPr/>
        </p:nvSpPr>
        <p:spPr>
          <a:xfrm>
            <a:off x="621792" y="713232"/>
            <a:ext cx="10881360" cy="219456"/>
          </a:xfrm>
          <a:prstGeom prst="rect">
            <a:avLst/>
          </a:prstGeom>
          <a:noFill/>
        </p:spPr>
        <p:txBody>
          <a:bodyPr wrap="square" lIns="45720" tIns="32004" rIns="45720" bIns="22860" anchor="ctr">
            <a:spAutoFit/>
          </a:bodyPr>
          <a:lstStyle/>
          <a:p>
            <a:pPr algn="l">
              <a:defRPr sz="1000" b="1">
                <a:solidFill>
                  <a:srgbClr val="DA9A3C"/>
                </a:solidFill>
                <a:latin typeface="Aptos"/>
              </a:defRPr>
            </a:pPr>
            <a:r>
              <a:t>PROBLEM STATEMENT</a:t>
            </a:r>
          </a:p>
        </p:txBody>
      </p:sp>
      <p:sp>
        <p:nvSpPr>
          <p:cNvPr id="4" name="TextBox 3"/>
          <p:cNvSpPr txBox="1"/>
          <p:nvPr/>
        </p:nvSpPr>
        <p:spPr>
          <a:xfrm>
            <a:off x="566928" y="1005840"/>
            <a:ext cx="10972800" cy="530352"/>
          </a:xfrm>
          <a:prstGeom prst="rect">
            <a:avLst/>
          </a:prstGeom>
          <a:noFill/>
        </p:spPr>
        <p:txBody>
          <a:bodyPr wrap="square" lIns="45720" tIns="32004" rIns="45720" bIns="22860" anchor="ctr">
            <a:spAutoFit/>
          </a:bodyPr>
          <a:lstStyle/>
          <a:p>
            <a:pPr algn="l">
              <a:defRPr sz="2700" b="1">
                <a:solidFill>
                  <a:srgbClr val="102033"/>
                </a:solidFill>
                <a:latin typeface="Aptos"/>
              </a:defRPr>
            </a:pPr>
            <a:r>
              <a:t>Digital case clues are hard to see together</a:t>
            </a:r>
          </a:p>
        </p:txBody>
      </p:sp>
      <p:sp>
        <p:nvSpPr>
          <p:cNvPr id="5" name="TextBox 4"/>
          <p:cNvSpPr txBox="1"/>
          <p:nvPr/>
        </p:nvSpPr>
        <p:spPr>
          <a:xfrm>
            <a:off x="612648" y="1609344"/>
            <a:ext cx="10881360" cy="329184"/>
          </a:xfrm>
          <a:prstGeom prst="rect">
            <a:avLst/>
          </a:prstGeom>
          <a:noFill/>
        </p:spPr>
        <p:txBody>
          <a:bodyPr wrap="square" lIns="45720" tIns="32004" rIns="45720" bIns="22860" anchor="ctr">
            <a:spAutoFit/>
          </a:bodyPr>
          <a:lstStyle/>
          <a:p>
            <a:pPr algn="l">
              <a:defRPr sz="1250" b="0">
                <a:solidFill>
                  <a:srgbClr val="536276"/>
                </a:solidFill>
                <a:latin typeface="Aptos"/>
              </a:defRPr>
            </a:pPr>
            <a:r>
              <a:t>Notes, network records, and file samples often arrive in different formats.</a:t>
            </a:r>
          </a:p>
        </p:txBody>
      </p:sp>
      <p:sp>
        <p:nvSpPr>
          <p:cNvPr id="6" name="Rectangle 5"/>
          <p:cNvSpPr/>
          <p:nvPr/>
        </p:nvSpPr>
        <p:spPr>
          <a:xfrm>
            <a:off x="566928" y="6428232"/>
            <a:ext cx="11018520" cy="10972"/>
          </a:xfrm>
          <a:prstGeom prst="rect">
            <a:avLst/>
          </a:prstGeom>
          <a:solidFill>
            <a:srgbClr val="D7DFE8"/>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92240"/>
            <a:ext cx="10424160" cy="164592"/>
          </a:xfrm>
          <a:prstGeom prst="rect">
            <a:avLst/>
          </a:prstGeom>
          <a:noFill/>
        </p:spPr>
        <p:txBody>
          <a:bodyPr wrap="square" lIns="45720" tIns="32004" rIns="45720" bIns="22860" anchor="ctr">
            <a:spAutoFit/>
          </a:bodyPr>
          <a:lstStyle/>
          <a:p>
            <a:pPr algn="l">
              <a:defRPr sz="780" b="0">
                <a:solidFill>
                  <a:srgbClr val="536276"/>
                </a:solidFill>
                <a:latin typeface="Aptos"/>
              </a:defRPr>
            </a:pPr>
            <a:r>
              <a:t>CLASSROOM PROTOTYPE   •   FICTIONAL / GENERATED DATA   •   HUMAN REVIEW REQUIRED</a:t>
            </a:r>
          </a:p>
        </p:txBody>
      </p:sp>
      <p:sp>
        <p:nvSpPr>
          <p:cNvPr id="8" name="Rounded Rectangle 7"/>
          <p:cNvSpPr/>
          <p:nvPr/>
        </p:nvSpPr>
        <p:spPr>
          <a:xfrm>
            <a:off x="685800" y="2423160"/>
            <a:ext cx="3429000" cy="1956816"/>
          </a:xfrm>
          <a:prstGeom prst="round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2624328"/>
            <a:ext cx="621792" cy="347472"/>
          </a:xfrm>
          <a:prstGeom prst="rect">
            <a:avLst/>
          </a:prstGeom>
          <a:noFill/>
        </p:spPr>
        <p:txBody>
          <a:bodyPr wrap="square" lIns="45720" tIns="32004" rIns="45720" bIns="22860" anchor="ctr">
            <a:spAutoFit/>
          </a:bodyPr>
          <a:lstStyle/>
          <a:p>
            <a:pPr algn="l">
              <a:defRPr sz="1900" b="1">
                <a:solidFill>
                  <a:srgbClr val="168A8A"/>
                </a:solidFill>
                <a:latin typeface="Aptos"/>
              </a:defRPr>
            </a:pPr>
            <a:r>
              <a:t>01</a:t>
            </a:r>
          </a:p>
        </p:txBody>
      </p:sp>
      <p:sp>
        <p:nvSpPr>
          <p:cNvPr id="10" name="TextBox 9"/>
          <p:cNvSpPr txBox="1"/>
          <p:nvPr/>
        </p:nvSpPr>
        <p:spPr>
          <a:xfrm>
            <a:off x="886968" y="3090672"/>
            <a:ext cx="2953512" cy="338328"/>
          </a:xfrm>
          <a:prstGeom prst="rect">
            <a:avLst/>
          </a:prstGeom>
          <a:noFill/>
        </p:spPr>
        <p:txBody>
          <a:bodyPr wrap="square" lIns="45720" tIns="32004" rIns="45720" bIns="22860" anchor="ctr">
            <a:spAutoFit/>
          </a:bodyPr>
          <a:lstStyle/>
          <a:p>
            <a:pPr algn="l">
              <a:defRPr sz="1700" b="1">
                <a:solidFill>
                  <a:srgbClr val="102033"/>
                </a:solidFill>
                <a:latin typeface="Aptos"/>
              </a:defRPr>
            </a:pPr>
            <a:r>
              <a:t>Many input types</a:t>
            </a:r>
          </a:p>
        </p:txBody>
      </p:sp>
      <p:sp>
        <p:nvSpPr>
          <p:cNvPr id="11" name="TextBox 10"/>
          <p:cNvSpPr txBox="1"/>
          <p:nvPr/>
        </p:nvSpPr>
        <p:spPr>
          <a:xfrm>
            <a:off x="886968" y="3566160"/>
            <a:ext cx="2926080" cy="603504"/>
          </a:xfrm>
          <a:prstGeom prst="rect">
            <a:avLst/>
          </a:prstGeom>
          <a:noFill/>
        </p:spPr>
        <p:txBody>
          <a:bodyPr wrap="square" lIns="45720" tIns="32004" rIns="45720" bIns="22860" anchor="ctr">
            <a:spAutoFit/>
          </a:bodyPr>
          <a:lstStyle/>
          <a:p>
            <a:pPr algn="l">
              <a:defRPr sz="1230" b="0">
                <a:solidFill>
                  <a:srgbClr val="536276"/>
                </a:solidFill>
                <a:latin typeface="Aptos"/>
              </a:defRPr>
            </a:pPr>
            <a:r>
              <a:t>Notes, network traffic, and file fragments are separate kinds of information.</a:t>
            </a:r>
          </a:p>
        </p:txBody>
      </p:sp>
      <p:sp>
        <p:nvSpPr>
          <p:cNvPr id="12" name="Rounded Rectangle 11"/>
          <p:cNvSpPr/>
          <p:nvPr/>
        </p:nvSpPr>
        <p:spPr>
          <a:xfrm>
            <a:off x="4507992" y="2423160"/>
            <a:ext cx="3429000" cy="1956816"/>
          </a:xfrm>
          <a:prstGeom prst="round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9159" y="2624328"/>
            <a:ext cx="621792" cy="347472"/>
          </a:xfrm>
          <a:prstGeom prst="rect">
            <a:avLst/>
          </a:prstGeom>
          <a:noFill/>
        </p:spPr>
        <p:txBody>
          <a:bodyPr wrap="square" lIns="45720" tIns="32004" rIns="45720" bIns="22860" anchor="ctr">
            <a:spAutoFit/>
          </a:bodyPr>
          <a:lstStyle/>
          <a:p>
            <a:pPr algn="l">
              <a:defRPr sz="1900" b="1">
                <a:solidFill>
                  <a:srgbClr val="DA9A3C"/>
                </a:solidFill>
                <a:latin typeface="Aptos"/>
              </a:defRPr>
            </a:pPr>
            <a:r>
              <a:t>02</a:t>
            </a:r>
          </a:p>
        </p:txBody>
      </p:sp>
      <p:sp>
        <p:nvSpPr>
          <p:cNvPr id="14" name="TextBox 13"/>
          <p:cNvSpPr txBox="1"/>
          <p:nvPr/>
        </p:nvSpPr>
        <p:spPr>
          <a:xfrm>
            <a:off x="4709159" y="3090672"/>
            <a:ext cx="2953512" cy="338328"/>
          </a:xfrm>
          <a:prstGeom prst="rect">
            <a:avLst/>
          </a:prstGeom>
          <a:noFill/>
        </p:spPr>
        <p:txBody>
          <a:bodyPr wrap="square" lIns="45720" tIns="32004" rIns="45720" bIns="22860" anchor="ctr">
            <a:spAutoFit/>
          </a:bodyPr>
          <a:lstStyle/>
          <a:p>
            <a:pPr algn="l">
              <a:defRPr sz="1700" b="1">
                <a:solidFill>
                  <a:srgbClr val="102033"/>
                </a:solidFill>
                <a:latin typeface="Aptos"/>
              </a:defRPr>
            </a:pPr>
            <a:r>
              <a:t>Connections get missed</a:t>
            </a:r>
          </a:p>
        </p:txBody>
      </p:sp>
      <p:sp>
        <p:nvSpPr>
          <p:cNvPr id="15" name="TextBox 14"/>
          <p:cNvSpPr txBox="1"/>
          <p:nvPr/>
        </p:nvSpPr>
        <p:spPr>
          <a:xfrm>
            <a:off x="4709159" y="3566160"/>
            <a:ext cx="2926080" cy="603504"/>
          </a:xfrm>
          <a:prstGeom prst="rect">
            <a:avLst/>
          </a:prstGeom>
          <a:noFill/>
        </p:spPr>
        <p:txBody>
          <a:bodyPr wrap="square" lIns="45720" tIns="32004" rIns="45720" bIns="22860" anchor="ctr">
            <a:spAutoFit/>
          </a:bodyPr>
          <a:lstStyle/>
          <a:p>
            <a:pPr algn="l">
              <a:defRPr sz="1230" b="0">
                <a:solidFill>
                  <a:srgbClr val="536276"/>
                </a:solidFill>
                <a:latin typeface="Aptos"/>
              </a:defRPr>
            </a:pPr>
            <a:r>
              <a:t>People, devices, places, and evidence can be difficult to connect by eye.</a:t>
            </a:r>
          </a:p>
        </p:txBody>
      </p:sp>
      <p:sp>
        <p:nvSpPr>
          <p:cNvPr id="16" name="Rounded Rectangle 15"/>
          <p:cNvSpPr/>
          <p:nvPr/>
        </p:nvSpPr>
        <p:spPr>
          <a:xfrm>
            <a:off x="8330183" y="2423160"/>
            <a:ext cx="3429000" cy="1956816"/>
          </a:xfrm>
          <a:prstGeom prst="round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31352" y="2624328"/>
            <a:ext cx="621792" cy="347472"/>
          </a:xfrm>
          <a:prstGeom prst="rect">
            <a:avLst/>
          </a:prstGeom>
          <a:noFill/>
        </p:spPr>
        <p:txBody>
          <a:bodyPr wrap="square" lIns="45720" tIns="32004" rIns="45720" bIns="22860" anchor="ctr">
            <a:spAutoFit/>
          </a:bodyPr>
          <a:lstStyle/>
          <a:p>
            <a:pPr algn="l">
              <a:defRPr sz="1900" b="1">
                <a:solidFill>
                  <a:srgbClr val="477F62"/>
                </a:solidFill>
                <a:latin typeface="Aptos"/>
              </a:defRPr>
            </a:pPr>
            <a:r>
              <a:t>03</a:t>
            </a:r>
          </a:p>
        </p:txBody>
      </p:sp>
      <p:sp>
        <p:nvSpPr>
          <p:cNvPr id="18" name="TextBox 17"/>
          <p:cNvSpPr txBox="1"/>
          <p:nvPr/>
        </p:nvSpPr>
        <p:spPr>
          <a:xfrm>
            <a:off x="8531352" y="3090672"/>
            <a:ext cx="2953512" cy="338328"/>
          </a:xfrm>
          <a:prstGeom prst="rect">
            <a:avLst/>
          </a:prstGeom>
          <a:noFill/>
        </p:spPr>
        <p:txBody>
          <a:bodyPr wrap="square" lIns="45720" tIns="32004" rIns="45720" bIns="22860" anchor="ctr">
            <a:spAutoFit/>
          </a:bodyPr>
          <a:lstStyle/>
          <a:p>
            <a:pPr algn="l">
              <a:defRPr sz="1700" b="1">
                <a:solidFill>
                  <a:srgbClr val="102033"/>
                </a:solidFill>
                <a:latin typeface="Aptos"/>
              </a:defRPr>
            </a:pPr>
            <a:r>
              <a:t>Need one clear view</a:t>
            </a:r>
          </a:p>
        </p:txBody>
      </p:sp>
      <p:sp>
        <p:nvSpPr>
          <p:cNvPr id="19" name="TextBox 18"/>
          <p:cNvSpPr txBox="1"/>
          <p:nvPr/>
        </p:nvSpPr>
        <p:spPr>
          <a:xfrm>
            <a:off x="8531352" y="3566160"/>
            <a:ext cx="2926080" cy="603504"/>
          </a:xfrm>
          <a:prstGeom prst="rect">
            <a:avLst/>
          </a:prstGeom>
          <a:noFill/>
        </p:spPr>
        <p:txBody>
          <a:bodyPr wrap="square" lIns="45720" tIns="32004" rIns="45720" bIns="22860" anchor="ctr">
            <a:spAutoFit/>
          </a:bodyPr>
          <a:lstStyle/>
          <a:p>
            <a:pPr algn="l">
              <a:defRPr sz="1230" b="0">
                <a:solidFill>
                  <a:srgbClr val="536276"/>
                </a:solidFill>
                <a:latin typeface="Aptos"/>
              </a:defRPr>
            </a:pPr>
            <a:r>
              <a:t>A reviewer needs an organized case view to explore possible links.</a:t>
            </a:r>
          </a:p>
        </p:txBody>
      </p:sp>
      <p:sp>
        <p:nvSpPr>
          <p:cNvPr id="20" name="Rounded Rectangle 19"/>
          <p:cNvSpPr/>
          <p:nvPr/>
        </p:nvSpPr>
        <p:spPr>
          <a:xfrm>
            <a:off x="713232" y="4910328"/>
            <a:ext cx="10771632" cy="694944"/>
          </a:xfrm>
          <a:prstGeom prst="roundRect">
            <a:avLst/>
          </a:prstGeom>
          <a:solidFill>
            <a:srgbClr val="FFF7E9"/>
          </a:solidFill>
          <a:ln w="12700">
            <a:solidFill>
              <a:srgbClr val="F0D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084064"/>
            <a:ext cx="10378440" cy="310896"/>
          </a:xfrm>
          <a:prstGeom prst="rect">
            <a:avLst/>
          </a:prstGeom>
          <a:noFill/>
        </p:spPr>
        <p:txBody>
          <a:bodyPr wrap="square" lIns="45720" tIns="32004" rIns="45720" bIns="22860" anchor="ctr">
            <a:spAutoFit/>
          </a:bodyPr>
          <a:lstStyle/>
          <a:p>
            <a:pPr algn="ctr">
              <a:defRPr sz="1500" b="1">
                <a:solidFill>
                  <a:srgbClr val="102033"/>
                </a:solidFill>
                <a:latin typeface="Aptos"/>
              </a:defRPr>
            </a:pPr>
            <a:r>
              <a:t>Goal: organize sample information and show possible links — not decide guilt.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10972800" cy="182880"/>
          </a:xfrm>
          <a:prstGeom prst="rect">
            <a:avLst/>
          </a:prstGeom>
          <a:noFill/>
        </p:spPr>
        <p:txBody>
          <a:bodyPr wrap="square" lIns="45720" tIns="32004" rIns="45720" bIns="22860" anchor="ctr">
            <a:spAutoFit/>
          </a:bodyPr>
          <a:lstStyle/>
          <a:p>
            <a:pPr algn="l">
              <a:defRPr sz="800" b="1">
                <a:solidFill>
                  <a:srgbClr val="168A8A"/>
                </a:solidFill>
                <a:latin typeface="Aptos"/>
              </a:defRPr>
            </a:pPr>
            <a:r>
              <a:t>CRIMEGRAPH AI     /     PROJECT REVIEW                                      02 / 5</a:t>
            </a:r>
          </a:p>
        </p:txBody>
      </p:sp>
      <p:sp>
        <p:nvSpPr>
          <p:cNvPr id="3" name="TextBox 2"/>
          <p:cNvSpPr txBox="1"/>
          <p:nvPr/>
        </p:nvSpPr>
        <p:spPr>
          <a:xfrm>
            <a:off x="621792" y="713232"/>
            <a:ext cx="10881360" cy="219456"/>
          </a:xfrm>
          <a:prstGeom prst="rect">
            <a:avLst/>
          </a:prstGeom>
          <a:noFill/>
        </p:spPr>
        <p:txBody>
          <a:bodyPr wrap="square" lIns="45720" tIns="32004" rIns="45720" bIns="22860" anchor="ctr">
            <a:spAutoFit/>
          </a:bodyPr>
          <a:lstStyle/>
          <a:p>
            <a:pPr algn="l">
              <a:defRPr sz="1000" b="1">
                <a:solidFill>
                  <a:srgbClr val="DA9A3C"/>
                </a:solidFill>
                <a:latin typeface="Aptos"/>
              </a:defRPr>
            </a:pPr>
            <a:r>
              <a:t>SOLUTION</a:t>
            </a:r>
          </a:p>
        </p:txBody>
      </p:sp>
      <p:sp>
        <p:nvSpPr>
          <p:cNvPr id="4" name="TextBox 3"/>
          <p:cNvSpPr txBox="1"/>
          <p:nvPr/>
        </p:nvSpPr>
        <p:spPr>
          <a:xfrm>
            <a:off x="566928" y="1005840"/>
            <a:ext cx="10972800" cy="530352"/>
          </a:xfrm>
          <a:prstGeom prst="rect">
            <a:avLst/>
          </a:prstGeom>
          <a:noFill/>
        </p:spPr>
        <p:txBody>
          <a:bodyPr wrap="square" lIns="45720" tIns="32004" rIns="45720" bIns="22860" anchor="ctr">
            <a:spAutoFit/>
          </a:bodyPr>
          <a:lstStyle/>
          <a:p>
            <a:pPr algn="l">
              <a:defRPr sz="2700" b="1">
                <a:solidFill>
                  <a:srgbClr val="102033"/>
                </a:solidFill>
                <a:latin typeface="Aptos"/>
              </a:defRPr>
            </a:pPr>
            <a:r>
              <a:t>Three ways to add sample information</a:t>
            </a:r>
          </a:p>
        </p:txBody>
      </p:sp>
      <p:sp>
        <p:nvSpPr>
          <p:cNvPr id="5" name="TextBox 4"/>
          <p:cNvSpPr txBox="1"/>
          <p:nvPr/>
        </p:nvSpPr>
        <p:spPr>
          <a:xfrm>
            <a:off x="612648" y="1609344"/>
            <a:ext cx="10881360" cy="329184"/>
          </a:xfrm>
          <a:prstGeom prst="rect">
            <a:avLst/>
          </a:prstGeom>
          <a:noFill/>
        </p:spPr>
        <p:txBody>
          <a:bodyPr wrap="square" lIns="45720" tIns="32004" rIns="45720" bIns="22860" anchor="ctr">
            <a:spAutoFit/>
          </a:bodyPr>
          <a:lstStyle/>
          <a:p>
            <a:pPr algn="l">
              <a:defRPr sz="1250" b="0">
                <a:solidFill>
                  <a:srgbClr val="536276"/>
                </a:solidFill>
                <a:latin typeface="Aptos"/>
              </a:defRPr>
            </a:pPr>
            <a:r>
              <a:t>Each workflow adds a result to one case workspace and its relationship graph.</a:t>
            </a:r>
          </a:p>
        </p:txBody>
      </p:sp>
      <p:sp>
        <p:nvSpPr>
          <p:cNvPr id="6" name="Rectangle 5"/>
          <p:cNvSpPr/>
          <p:nvPr/>
        </p:nvSpPr>
        <p:spPr>
          <a:xfrm>
            <a:off x="566928" y="6428232"/>
            <a:ext cx="11018520" cy="10972"/>
          </a:xfrm>
          <a:prstGeom prst="rect">
            <a:avLst/>
          </a:prstGeom>
          <a:solidFill>
            <a:srgbClr val="D7DFE8"/>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92240"/>
            <a:ext cx="10424160" cy="164592"/>
          </a:xfrm>
          <a:prstGeom prst="rect">
            <a:avLst/>
          </a:prstGeom>
          <a:noFill/>
        </p:spPr>
        <p:txBody>
          <a:bodyPr wrap="square" lIns="45720" tIns="32004" rIns="45720" bIns="22860" anchor="ctr">
            <a:spAutoFit/>
          </a:bodyPr>
          <a:lstStyle/>
          <a:p>
            <a:pPr algn="l">
              <a:defRPr sz="780" b="0">
                <a:solidFill>
                  <a:srgbClr val="536276"/>
                </a:solidFill>
                <a:latin typeface="Aptos"/>
              </a:defRPr>
            </a:pPr>
            <a:r>
              <a:t>CLASSROOM PROTOTYPE   •   FICTIONAL / GENERATED DATA   •   HUMAN REVIEW REQUIRED</a:t>
            </a:r>
          </a:p>
        </p:txBody>
      </p:sp>
      <p:sp>
        <p:nvSpPr>
          <p:cNvPr id="8" name="Rounded Rectangle 7"/>
          <p:cNvSpPr/>
          <p:nvPr/>
        </p:nvSpPr>
        <p:spPr>
          <a:xfrm>
            <a:off x="768096" y="2359152"/>
            <a:ext cx="3246120" cy="1481328"/>
          </a:xfrm>
          <a:prstGeom prst="round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50976" y="2560320"/>
            <a:ext cx="128016" cy="1069848"/>
          </a:xfrm>
          <a:prstGeom prst="rect">
            <a:avLst/>
          </a:prstGeom>
          <a:solidFill>
            <a:srgbClr val="168A8A"/>
          </a:solidFill>
          <a:ln w="12700">
            <a:solidFill>
              <a:srgbClr val="168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25295" y="2578608"/>
            <a:ext cx="2560320" cy="283464"/>
          </a:xfrm>
          <a:prstGeom prst="rect">
            <a:avLst/>
          </a:prstGeom>
          <a:noFill/>
        </p:spPr>
        <p:txBody>
          <a:bodyPr wrap="square" lIns="45720" tIns="32004" rIns="45720" bIns="22860" anchor="ctr">
            <a:spAutoFit/>
          </a:bodyPr>
          <a:lstStyle/>
          <a:p>
            <a:pPr algn="l">
              <a:defRPr sz="1200" b="1">
                <a:solidFill>
                  <a:srgbClr val="168A8A"/>
                </a:solidFill>
                <a:latin typeface="Aptos"/>
              </a:defRPr>
            </a:pPr>
            <a:r>
              <a:t>CASE NOTES</a:t>
            </a:r>
          </a:p>
        </p:txBody>
      </p:sp>
      <p:sp>
        <p:nvSpPr>
          <p:cNvPr id="11" name="TextBox 10"/>
          <p:cNvSpPr txBox="1"/>
          <p:nvPr/>
        </p:nvSpPr>
        <p:spPr>
          <a:xfrm>
            <a:off x="1225295" y="2980944"/>
            <a:ext cx="2560320" cy="585216"/>
          </a:xfrm>
          <a:prstGeom prst="rect">
            <a:avLst/>
          </a:prstGeom>
          <a:noFill/>
        </p:spPr>
        <p:txBody>
          <a:bodyPr wrap="square" lIns="45720" tIns="32004" rIns="45720" bIns="22860" anchor="ctr">
            <a:spAutoFit/>
          </a:bodyPr>
          <a:lstStyle/>
          <a:p>
            <a:pPr algn="l">
              <a:defRPr sz="1300" b="0">
                <a:solidFill>
                  <a:srgbClr val="102033"/>
                </a:solidFill>
                <a:latin typeface="Aptos"/>
              </a:defRPr>
            </a:pPr>
            <a:r>
              <a:t>A simple text-pattern finder looks for supported details.</a:t>
            </a:r>
          </a:p>
        </p:txBody>
      </p:sp>
      <p:cxnSp>
        <p:nvCxnSpPr>
          <p:cNvPr id="12" name="Connector 11"/>
          <p:cNvCxnSpPr/>
          <p:nvPr/>
        </p:nvCxnSpPr>
        <p:spPr>
          <a:xfrm>
            <a:off x="4078224" y="3099816"/>
            <a:ext cx="365759" cy="0"/>
          </a:xfrm>
          <a:prstGeom prst="line">
            <a:avLst/>
          </a:prstGeom>
          <a:ln w="30480">
            <a:solidFill>
              <a:srgbClr val="168A8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35424" y="2359152"/>
            <a:ext cx="3246120" cy="1481328"/>
          </a:xfrm>
          <a:prstGeom prst="round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718304" y="2560320"/>
            <a:ext cx="128016" cy="1069848"/>
          </a:xfrm>
          <a:prstGeom prst="rect">
            <a:avLst/>
          </a:prstGeom>
          <a:solidFill>
            <a:srgbClr val="DA9A3C"/>
          </a:solidFill>
          <a:ln w="12700">
            <a:solidFill>
              <a:srgbClr val="DA9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92624" y="2578608"/>
            <a:ext cx="2560320" cy="283464"/>
          </a:xfrm>
          <a:prstGeom prst="rect">
            <a:avLst/>
          </a:prstGeom>
          <a:noFill/>
        </p:spPr>
        <p:txBody>
          <a:bodyPr wrap="square" lIns="45720" tIns="32004" rIns="45720" bIns="22860" anchor="ctr">
            <a:spAutoFit/>
          </a:bodyPr>
          <a:lstStyle/>
          <a:p>
            <a:pPr algn="l">
              <a:defRPr sz="1200" b="1">
                <a:solidFill>
                  <a:srgbClr val="DA9A3C"/>
                </a:solidFill>
                <a:latin typeface="Aptos"/>
              </a:defRPr>
            </a:pPr>
            <a:r>
              <a:t>NETWORK FLOW</a:t>
            </a:r>
          </a:p>
        </p:txBody>
      </p:sp>
      <p:sp>
        <p:nvSpPr>
          <p:cNvPr id="16" name="TextBox 15"/>
          <p:cNvSpPr txBox="1"/>
          <p:nvPr/>
        </p:nvSpPr>
        <p:spPr>
          <a:xfrm>
            <a:off x="4992624" y="2980944"/>
            <a:ext cx="2560320" cy="585216"/>
          </a:xfrm>
          <a:prstGeom prst="rect">
            <a:avLst/>
          </a:prstGeom>
          <a:noFill/>
        </p:spPr>
        <p:txBody>
          <a:bodyPr wrap="square" lIns="45720" tIns="32004" rIns="45720" bIns="22860" anchor="ctr">
            <a:spAutoFit/>
          </a:bodyPr>
          <a:lstStyle/>
          <a:p>
            <a:pPr algn="l">
              <a:defRPr sz="1300" b="0">
                <a:solidFill>
                  <a:srgbClr val="102033"/>
                </a:solidFill>
                <a:latin typeface="Aptos"/>
              </a:defRPr>
            </a:pPr>
            <a:r>
              <a:t>A trained model predicts a traffic category.</a:t>
            </a:r>
          </a:p>
        </p:txBody>
      </p:sp>
      <p:cxnSp>
        <p:nvCxnSpPr>
          <p:cNvPr id="17" name="Connector 16"/>
          <p:cNvCxnSpPr/>
          <p:nvPr/>
        </p:nvCxnSpPr>
        <p:spPr>
          <a:xfrm>
            <a:off x="7845552" y="3099816"/>
            <a:ext cx="365760" cy="0"/>
          </a:xfrm>
          <a:prstGeom prst="line">
            <a:avLst/>
          </a:prstGeom>
          <a:ln w="30480">
            <a:solidFill>
              <a:srgbClr val="168A8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302752" y="2359152"/>
            <a:ext cx="3246120" cy="1481328"/>
          </a:xfrm>
          <a:prstGeom prst="round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485632" y="2560320"/>
            <a:ext cx="128016" cy="1069848"/>
          </a:xfrm>
          <a:prstGeom prst="rect">
            <a:avLst/>
          </a:prstGeom>
          <a:solidFill>
            <a:srgbClr val="477F62"/>
          </a:solidFill>
          <a:ln w="12700">
            <a:solidFill>
              <a:srgbClr val="477F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59952" y="2578608"/>
            <a:ext cx="2560320" cy="283464"/>
          </a:xfrm>
          <a:prstGeom prst="rect">
            <a:avLst/>
          </a:prstGeom>
          <a:noFill/>
        </p:spPr>
        <p:txBody>
          <a:bodyPr wrap="square" lIns="45720" tIns="32004" rIns="45720" bIns="22860" anchor="ctr">
            <a:spAutoFit/>
          </a:bodyPr>
          <a:lstStyle/>
          <a:p>
            <a:pPr algn="l">
              <a:defRPr sz="1200" b="1">
                <a:solidFill>
                  <a:srgbClr val="477F62"/>
                </a:solidFill>
                <a:latin typeface="Aptos"/>
              </a:defRPr>
            </a:pPr>
            <a:r>
              <a:t>FILE SAMPLE</a:t>
            </a:r>
          </a:p>
        </p:txBody>
      </p:sp>
      <p:sp>
        <p:nvSpPr>
          <p:cNvPr id="21" name="TextBox 20"/>
          <p:cNvSpPr txBox="1"/>
          <p:nvPr/>
        </p:nvSpPr>
        <p:spPr>
          <a:xfrm>
            <a:off x="8759952" y="2980944"/>
            <a:ext cx="2560320" cy="585216"/>
          </a:xfrm>
          <a:prstGeom prst="rect">
            <a:avLst/>
          </a:prstGeom>
          <a:noFill/>
        </p:spPr>
        <p:txBody>
          <a:bodyPr wrap="square" lIns="45720" tIns="32004" rIns="45720" bIns="22860" anchor="ctr">
            <a:spAutoFit/>
          </a:bodyPr>
          <a:lstStyle/>
          <a:p>
            <a:pPr algn="l">
              <a:defRPr sz="1300" b="0">
                <a:solidFill>
                  <a:srgbClr val="102033"/>
                </a:solidFill>
                <a:latin typeface="Aptos"/>
              </a:defRPr>
            </a:pPr>
            <a:r>
              <a:t>A trained model predicts one of six file types.</a:t>
            </a:r>
          </a:p>
        </p:txBody>
      </p:sp>
      <p:sp>
        <p:nvSpPr>
          <p:cNvPr id="22" name="Rounded Rectangle 21"/>
          <p:cNvSpPr/>
          <p:nvPr/>
        </p:nvSpPr>
        <p:spPr>
          <a:xfrm>
            <a:off x="1664208" y="4407408"/>
            <a:ext cx="8851392" cy="914400"/>
          </a:xfrm>
          <a:prstGeom prst="roundRect">
            <a:avLst/>
          </a:prstGeom>
          <a:solidFill>
            <a:srgbClr val="14213A"/>
          </a:solidFill>
          <a:ln w="12700">
            <a:solidFill>
              <a:srgbClr val="142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938528" y="4553712"/>
            <a:ext cx="1828800" cy="219456"/>
          </a:xfrm>
          <a:prstGeom prst="rect">
            <a:avLst/>
          </a:prstGeom>
          <a:noFill/>
        </p:spPr>
        <p:txBody>
          <a:bodyPr wrap="square" lIns="45720" tIns="32004" rIns="45720" bIns="22860" anchor="ctr">
            <a:spAutoFit/>
          </a:bodyPr>
          <a:lstStyle/>
          <a:p>
            <a:pPr algn="l">
              <a:defRPr sz="1100" b="1">
                <a:solidFill>
                  <a:srgbClr val="91D7D3"/>
                </a:solidFill>
                <a:latin typeface="Aptos"/>
              </a:defRPr>
            </a:pPr>
            <a:r>
              <a:t>ONE CASE GRAPH</a:t>
            </a:r>
          </a:p>
        </p:txBody>
      </p:sp>
      <p:sp>
        <p:nvSpPr>
          <p:cNvPr id="24" name="TextBox 23"/>
          <p:cNvSpPr txBox="1"/>
          <p:nvPr/>
        </p:nvSpPr>
        <p:spPr>
          <a:xfrm>
            <a:off x="3703320" y="4517136"/>
            <a:ext cx="6419088" cy="347472"/>
          </a:xfrm>
          <a:prstGeom prst="rect">
            <a:avLst/>
          </a:prstGeom>
          <a:noFill/>
        </p:spPr>
        <p:txBody>
          <a:bodyPr wrap="square" lIns="45720" tIns="32004" rIns="45720" bIns="22860" anchor="ctr">
            <a:spAutoFit/>
          </a:bodyPr>
          <a:lstStyle/>
          <a:p>
            <a:pPr algn="ctr">
              <a:defRPr sz="1500" b="1">
                <a:solidFill>
                  <a:srgbClr val="FFFFFF"/>
                </a:solidFill>
                <a:latin typeface="Aptos"/>
              </a:defRPr>
            </a:pPr>
            <a:r>
              <a:t>Select a case  •  view graph  •  inspect entity and link tables</a:t>
            </a:r>
          </a:p>
        </p:txBody>
      </p:sp>
      <p:sp>
        <p:nvSpPr>
          <p:cNvPr id="25" name="TextBox 24"/>
          <p:cNvSpPr txBox="1"/>
          <p:nvPr/>
        </p:nvSpPr>
        <p:spPr>
          <a:xfrm>
            <a:off x="2011680" y="5522976"/>
            <a:ext cx="8229600" cy="274320"/>
          </a:xfrm>
          <a:prstGeom prst="rect">
            <a:avLst/>
          </a:prstGeom>
          <a:noFill/>
        </p:spPr>
        <p:txBody>
          <a:bodyPr wrap="square" lIns="45720" tIns="32004" rIns="45720" bIns="22860" anchor="ctr">
            <a:spAutoFit/>
          </a:bodyPr>
          <a:lstStyle/>
          <a:p>
            <a:pPr algn="ctr">
              <a:defRPr sz="1200" b="0">
                <a:solidFill>
                  <a:srgbClr val="536276"/>
                </a:solidFill>
                <a:latin typeface="Aptos"/>
              </a:defRPr>
            </a:pPr>
            <a:r>
              <a:t>Two trained classifiers + one separate rule-based notes feature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10972800" cy="182880"/>
          </a:xfrm>
          <a:prstGeom prst="rect">
            <a:avLst/>
          </a:prstGeom>
          <a:noFill/>
        </p:spPr>
        <p:txBody>
          <a:bodyPr wrap="square" lIns="45720" tIns="32004" rIns="45720" bIns="22860" anchor="ctr">
            <a:spAutoFit/>
          </a:bodyPr>
          <a:lstStyle/>
          <a:p>
            <a:pPr algn="l">
              <a:defRPr sz="800" b="1">
                <a:solidFill>
                  <a:srgbClr val="168A8A"/>
                </a:solidFill>
                <a:latin typeface="Aptos"/>
              </a:defRPr>
            </a:pPr>
            <a:r>
              <a:t>CRIMEGRAPH AI     /     PROJECT REVIEW                                      03 / 5</a:t>
            </a:r>
          </a:p>
        </p:txBody>
      </p:sp>
      <p:sp>
        <p:nvSpPr>
          <p:cNvPr id="3" name="TextBox 2"/>
          <p:cNvSpPr txBox="1"/>
          <p:nvPr/>
        </p:nvSpPr>
        <p:spPr>
          <a:xfrm>
            <a:off x="621792" y="713232"/>
            <a:ext cx="10881360" cy="219456"/>
          </a:xfrm>
          <a:prstGeom prst="rect">
            <a:avLst/>
          </a:prstGeom>
          <a:noFill/>
        </p:spPr>
        <p:txBody>
          <a:bodyPr wrap="square" lIns="45720" tIns="32004" rIns="45720" bIns="22860" anchor="ctr">
            <a:spAutoFit/>
          </a:bodyPr>
          <a:lstStyle/>
          <a:p>
            <a:pPr algn="l">
              <a:defRPr sz="1000" b="1">
                <a:solidFill>
                  <a:srgbClr val="DA9A3C"/>
                </a:solidFill>
                <a:latin typeface="Aptos"/>
              </a:defRPr>
            </a:pPr>
            <a:r>
              <a:t>ARCHITECTURE</a:t>
            </a:r>
          </a:p>
        </p:txBody>
      </p:sp>
      <p:sp>
        <p:nvSpPr>
          <p:cNvPr id="4" name="TextBox 3"/>
          <p:cNvSpPr txBox="1"/>
          <p:nvPr/>
        </p:nvSpPr>
        <p:spPr>
          <a:xfrm>
            <a:off x="566928" y="1005840"/>
            <a:ext cx="10972800" cy="530352"/>
          </a:xfrm>
          <a:prstGeom prst="rect">
            <a:avLst/>
          </a:prstGeom>
          <a:noFill/>
        </p:spPr>
        <p:txBody>
          <a:bodyPr wrap="square" lIns="45720" tIns="32004" rIns="45720" bIns="22860" anchor="ctr">
            <a:spAutoFit/>
          </a:bodyPr>
          <a:lstStyle/>
          <a:p>
            <a:pPr algn="l">
              <a:defRPr sz="2700" b="1">
                <a:solidFill>
                  <a:srgbClr val="102033"/>
                </a:solidFill>
                <a:latin typeface="Aptos"/>
              </a:defRPr>
            </a:pPr>
            <a:r>
              <a:t>Streamlit runs the analysis locally</a:t>
            </a:r>
          </a:p>
        </p:txBody>
      </p:sp>
      <p:sp>
        <p:nvSpPr>
          <p:cNvPr id="5" name="TextBox 4"/>
          <p:cNvSpPr txBox="1"/>
          <p:nvPr/>
        </p:nvSpPr>
        <p:spPr>
          <a:xfrm>
            <a:off x="612648" y="1609344"/>
            <a:ext cx="10881360" cy="329184"/>
          </a:xfrm>
          <a:prstGeom prst="rect">
            <a:avLst/>
          </a:prstGeom>
          <a:noFill/>
        </p:spPr>
        <p:txBody>
          <a:bodyPr wrap="square" lIns="45720" tIns="32004" rIns="45720" bIns="22860" anchor="ctr">
            <a:spAutoFit/>
          </a:bodyPr>
          <a:lstStyle/>
          <a:p>
            <a:pPr algn="l">
              <a:defRPr sz="1250" b="0">
                <a:solidFill>
                  <a:srgbClr val="536276"/>
                </a:solidFill>
                <a:latin typeface="Aptos"/>
              </a:defRPr>
            </a:pPr>
            <a:r>
              <a:t>The interface calls Python services directly; this demo does not send HTTP API requests.</a:t>
            </a:r>
          </a:p>
        </p:txBody>
      </p:sp>
      <p:sp>
        <p:nvSpPr>
          <p:cNvPr id="6" name="Rectangle 5"/>
          <p:cNvSpPr/>
          <p:nvPr/>
        </p:nvSpPr>
        <p:spPr>
          <a:xfrm>
            <a:off x="566928" y="6428232"/>
            <a:ext cx="11018520" cy="10972"/>
          </a:xfrm>
          <a:prstGeom prst="rect">
            <a:avLst/>
          </a:prstGeom>
          <a:solidFill>
            <a:srgbClr val="D7DFE8"/>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92240"/>
            <a:ext cx="10424160" cy="164592"/>
          </a:xfrm>
          <a:prstGeom prst="rect">
            <a:avLst/>
          </a:prstGeom>
          <a:noFill/>
        </p:spPr>
        <p:txBody>
          <a:bodyPr wrap="square" lIns="45720" tIns="32004" rIns="45720" bIns="22860" anchor="ctr">
            <a:spAutoFit/>
          </a:bodyPr>
          <a:lstStyle/>
          <a:p>
            <a:pPr algn="l">
              <a:defRPr sz="780" b="0">
                <a:solidFill>
                  <a:srgbClr val="536276"/>
                </a:solidFill>
                <a:latin typeface="Aptos"/>
              </a:defRPr>
            </a:pPr>
            <a:r>
              <a:t>CLASSROOM PROTOTYPE   •   FICTIONAL / GENERATED DATA   •   HUMAN REVIEW REQUIRED</a:t>
            </a:r>
          </a:p>
        </p:txBody>
      </p:sp>
      <p:sp>
        <p:nvSpPr>
          <p:cNvPr id="8" name="Rounded Rectangle 7"/>
          <p:cNvSpPr/>
          <p:nvPr/>
        </p:nvSpPr>
        <p:spPr>
          <a:xfrm>
            <a:off x="603504" y="2542032"/>
            <a:ext cx="1874519" cy="1965960"/>
          </a:xfrm>
          <a:prstGeom prst="roundRect">
            <a:avLst/>
          </a:prstGeom>
          <a:solidFill>
            <a:srgbClr val="E9F3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752344"/>
            <a:ext cx="1655063" cy="210312"/>
          </a:xfrm>
          <a:prstGeom prst="rect">
            <a:avLst/>
          </a:prstGeom>
          <a:noFill/>
        </p:spPr>
        <p:txBody>
          <a:bodyPr wrap="square" lIns="45720" tIns="32004" rIns="45720" bIns="22860" anchor="ctr">
            <a:spAutoFit/>
          </a:bodyPr>
          <a:lstStyle/>
          <a:p>
            <a:pPr algn="ctr">
              <a:defRPr sz="900" b="1">
                <a:solidFill>
                  <a:srgbClr val="168A8A"/>
                </a:solidFill>
                <a:latin typeface="Aptos"/>
              </a:defRPr>
            </a:pPr>
            <a:r>
              <a:t>1  ENTER</a:t>
            </a:r>
          </a:p>
        </p:txBody>
      </p:sp>
      <p:sp>
        <p:nvSpPr>
          <p:cNvPr id="10" name="TextBox 9"/>
          <p:cNvSpPr txBox="1"/>
          <p:nvPr/>
        </p:nvSpPr>
        <p:spPr>
          <a:xfrm>
            <a:off x="713232" y="3108960"/>
            <a:ext cx="1655063" cy="329184"/>
          </a:xfrm>
          <a:prstGeom prst="rect">
            <a:avLst/>
          </a:prstGeom>
          <a:noFill/>
        </p:spPr>
        <p:txBody>
          <a:bodyPr wrap="square" lIns="45720" tIns="32004" rIns="45720" bIns="22860" anchor="ctr">
            <a:spAutoFit/>
          </a:bodyPr>
          <a:lstStyle/>
          <a:p>
            <a:pPr algn="ctr">
              <a:defRPr sz="1600" b="1">
                <a:solidFill>
                  <a:srgbClr val="102033"/>
                </a:solidFill>
                <a:latin typeface="Aptos"/>
              </a:defRPr>
            </a:pPr>
            <a:r>
              <a:t>Streamlit UI</a:t>
            </a:r>
          </a:p>
        </p:txBody>
      </p:sp>
      <p:sp>
        <p:nvSpPr>
          <p:cNvPr id="11" name="TextBox 10"/>
          <p:cNvSpPr txBox="1"/>
          <p:nvPr/>
        </p:nvSpPr>
        <p:spPr>
          <a:xfrm>
            <a:off x="713232" y="3538728"/>
            <a:ext cx="1655063" cy="713232"/>
          </a:xfrm>
          <a:prstGeom prst="rect">
            <a:avLst/>
          </a:prstGeom>
          <a:noFill/>
        </p:spPr>
        <p:txBody>
          <a:bodyPr wrap="square" lIns="45720" tIns="32004" rIns="45720" bIns="22860" anchor="ctr">
            <a:spAutoFit/>
          </a:bodyPr>
          <a:lstStyle/>
          <a:p>
            <a:pPr algn="ctr">
              <a:defRPr sz="1100" b="0">
                <a:solidFill>
                  <a:srgbClr val="536276"/>
                </a:solidFill>
                <a:latin typeface="Aptos"/>
              </a:defRPr>
            </a:pPr>
            <a:r>
              <a:t>Case notes</a:t>
            </a:r>
          </a:p>
          <a:p>
            <a:pPr algn="ctr">
              <a:defRPr sz="1100" b="0">
                <a:solidFill>
                  <a:srgbClr val="536276"/>
                </a:solidFill>
                <a:latin typeface="Aptos"/>
              </a:defRPr>
            </a:pPr>
            <a:r>
              <a:t>One traffic flow</a:t>
            </a:r>
          </a:p>
          <a:p>
            <a:pPr algn="ctr">
              <a:defRPr sz="1100" b="0">
                <a:solidFill>
                  <a:srgbClr val="536276"/>
                </a:solidFill>
                <a:latin typeface="Aptos"/>
              </a:defRPr>
            </a:pPr>
            <a:r>
              <a:t>Hex byte sample</a:t>
            </a:r>
          </a:p>
        </p:txBody>
      </p:sp>
      <p:sp>
        <p:nvSpPr>
          <p:cNvPr id="12" name="Rounded Rectangle 11"/>
          <p:cNvSpPr/>
          <p:nvPr/>
        </p:nvSpPr>
        <p:spPr>
          <a:xfrm>
            <a:off x="2761488" y="2542032"/>
            <a:ext cx="1828800" cy="1965960"/>
          </a:xfrm>
          <a:prstGeom prst="roundRect">
            <a:avLst/>
          </a:prstGeom>
          <a:solidFill>
            <a:srgbClr val="F1F4F8"/>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71216" y="2752344"/>
            <a:ext cx="1609344" cy="210312"/>
          </a:xfrm>
          <a:prstGeom prst="rect">
            <a:avLst/>
          </a:prstGeom>
          <a:noFill/>
        </p:spPr>
        <p:txBody>
          <a:bodyPr wrap="square" lIns="45720" tIns="32004" rIns="45720" bIns="22860" anchor="ctr">
            <a:spAutoFit/>
          </a:bodyPr>
          <a:lstStyle/>
          <a:p>
            <a:pPr algn="ctr">
              <a:defRPr sz="900" b="1">
                <a:solidFill>
                  <a:srgbClr val="DA9A3C"/>
                </a:solidFill>
                <a:latin typeface="Aptos"/>
              </a:defRPr>
            </a:pPr>
            <a:r>
              <a:t>2  VALIDATE</a:t>
            </a:r>
          </a:p>
        </p:txBody>
      </p:sp>
      <p:sp>
        <p:nvSpPr>
          <p:cNvPr id="14" name="TextBox 13"/>
          <p:cNvSpPr txBox="1"/>
          <p:nvPr/>
        </p:nvSpPr>
        <p:spPr>
          <a:xfrm>
            <a:off x="2871216" y="3108960"/>
            <a:ext cx="1609344" cy="329184"/>
          </a:xfrm>
          <a:prstGeom prst="rect">
            <a:avLst/>
          </a:prstGeom>
          <a:noFill/>
        </p:spPr>
        <p:txBody>
          <a:bodyPr wrap="square" lIns="45720" tIns="32004" rIns="45720" bIns="22860" anchor="ctr">
            <a:spAutoFit/>
          </a:bodyPr>
          <a:lstStyle/>
          <a:p>
            <a:pPr algn="ctr">
              <a:defRPr sz="1600" b="1">
                <a:solidFill>
                  <a:srgbClr val="102033"/>
                </a:solidFill>
                <a:latin typeface="Aptos"/>
              </a:defRPr>
            </a:pPr>
            <a:r>
              <a:t>Pydantic</a:t>
            </a:r>
          </a:p>
        </p:txBody>
      </p:sp>
      <p:sp>
        <p:nvSpPr>
          <p:cNvPr id="15" name="TextBox 14"/>
          <p:cNvSpPr txBox="1"/>
          <p:nvPr/>
        </p:nvSpPr>
        <p:spPr>
          <a:xfrm>
            <a:off x="2871216" y="3538728"/>
            <a:ext cx="1609344" cy="713232"/>
          </a:xfrm>
          <a:prstGeom prst="rect">
            <a:avLst/>
          </a:prstGeom>
          <a:noFill/>
        </p:spPr>
        <p:txBody>
          <a:bodyPr wrap="square" lIns="45720" tIns="32004" rIns="45720" bIns="22860" anchor="ctr">
            <a:spAutoFit/>
          </a:bodyPr>
          <a:lstStyle/>
          <a:p>
            <a:pPr algn="ctr">
              <a:defRPr sz="1100" b="0">
                <a:solidFill>
                  <a:srgbClr val="536276"/>
                </a:solidFill>
                <a:latin typeface="Aptos"/>
              </a:defRPr>
            </a:pPr>
            <a:r>
              <a:t>Checks the input</a:t>
            </a:r>
          </a:p>
          <a:p>
            <a:pPr algn="ctr">
              <a:defRPr sz="1100" b="0">
                <a:solidFill>
                  <a:srgbClr val="536276"/>
                </a:solidFill>
                <a:latin typeface="Aptos"/>
              </a:defRPr>
            </a:pPr>
            <a:r>
              <a:t>and validates</a:t>
            </a:r>
          </a:p>
          <a:p>
            <a:pPr algn="ctr">
              <a:defRPr sz="1100" b="0">
                <a:solidFill>
                  <a:srgbClr val="536276"/>
                </a:solidFill>
                <a:latin typeface="Aptos"/>
              </a:defRPr>
            </a:pPr>
            <a:r>
              <a:t>the values</a:t>
            </a:r>
          </a:p>
        </p:txBody>
      </p:sp>
      <p:sp>
        <p:nvSpPr>
          <p:cNvPr id="16" name="Rounded Rectangle 15"/>
          <p:cNvSpPr/>
          <p:nvPr/>
        </p:nvSpPr>
        <p:spPr>
          <a:xfrm>
            <a:off x="4882896" y="2542032"/>
            <a:ext cx="2450592" cy="1965960"/>
          </a:xfrm>
          <a:prstGeom prst="roundRect">
            <a:avLst/>
          </a:prstGeom>
          <a:solidFill>
            <a:srgbClr val="EAF4EF"/>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92624" y="2752344"/>
            <a:ext cx="2231136" cy="210312"/>
          </a:xfrm>
          <a:prstGeom prst="rect">
            <a:avLst/>
          </a:prstGeom>
          <a:noFill/>
        </p:spPr>
        <p:txBody>
          <a:bodyPr wrap="square" lIns="45720" tIns="32004" rIns="45720" bIns="22860" anchor="ctr">
            <a:spAutoFit/>
          </a:bodyPr>
          <a:lstStyle/>
          <a:p>
            <a:pPr algn="ctr">
              <a:defRPr sz="900" b="1">
                <a:solidFill>
                  <a:srgbClr val="477F62"/>
                </a:solidFill>
                <a:latin typeface="Aptos"/>
              </a:defRPr>
            </a:pPr>
            <a:r>
              <a:t>3  ANALYZE</a:t>
            </a:r>
          </a:p>
        </p:txBody>
      </p:sp>
      <p:sp>
        <p:nvSpPr>
          <p:cNvPr id="18" name="TextBox 17"/>
          <p:cNvSpPr txBox="1"/>
          <p:nvPr/>
        </p:nvSpPr>
        <p:spPr>
          <a:xfrm>
            <a:off x="4992624" y="3108960"/>
            <a:ext cx="2231136" cy="329184"/>
          </a:xfrm>
          <a:prstGeom prst="rect">
            <a:avLst/>
          </a:prstGeom>
          <a:noFill/>
        </p:spPr>
        <p:txBody>
          <a:bodyPr wrap="square" lIns="45720" tIns="32004" rIns="45720" bIns="22860" anchor="ctr">
            <a:spAutoFit/>
          </a:bodyPr>
          <a:lstStyle/>
          <a:p>
            <a:pPr algn="ctr">
              <a:defRPr sz="1600" b="1">
                <a:solidFill>
                  <a:srgbClr val="102033"/>
                </a:solidFill>
                <a:latin typeface="Aptos"/>
              </a:defRPr>
            </a:pPr>
            <a:r>
              <a:t>Python services</a:t>
            </a:r>
          </a:p>
        </p:txBody>
      </p:sp>
      <p:sp>
        <p:nvSpPr>
          <p:cNvPr id="19" name="TextBox 18"/>
          <p:cNvSpPr txBox="1"/>
          <p:nvPr/>
        </p:nvSpPr>
        <p:spPr>
          <a:xfrm>
            <a:off x="4992624" y="3538728"/>
            <a:ext cx="2231136" cy="713232"/>
          </a:xfrm>
          <a:prstGeom prst="rect">
            <a:avLst/>
          </a:prstGeom>
          <a:noFill/>
        </p:spPr>
        <p:txBody>
          <a:bodyPr wrap="square" lIns="45720" tIns="32004" rIns="45720" bIns="22860" anchor="ctr">
            <a:spAutoFit/>
          </a:bodyPr>
          <a:lstStyle/>
          <a:p>
            <a:pPr algn="ctr">
              <a:defRPr sz="1100" b="0">
                <a:solidFill>
                  <a:srgbClr val="536276"/>
                </a:solidFill>
                <a:latin typeface="Aptos"/>
              </a:defRPr>
            </a:pPr>
            <a:r>
              <a:t>Traffic: CNN-LSTM</a:t>
            </a:r>
          </a:p>
          <a:p>
            <a:pPr algn="ctr">
              <a:defRPr sz="1100" b="0">
                <a:solidFill>
                  <a:srgbClr val="536276"/>
                </a:solidFill>
                <a:latin typeface="Aptos"/>
              </a:defRPr>
            </a:pPr>
            <a:r>
              <a:t>Files: TF-IDF + MLP</a:t>
            </a:r>
          </a:p>
          <a:p>
            <a:pPr algn="ctr">
              <a:defRPr sz="1100" b="0">
                <a:solidFill>
                  <a:srgbClr val="536276"/>
                </a:solidFill>
                <a:latin typeface="Aptos"/>
              </a:defRPr>
            </a:pPr>
            <a:r>
              <a:t>Notes: local rules</a:t>
            </a:r>
          </a:p>
        </p:txBody>
      </p:sp>
      <p:sp>
        <p:nvSpPr>
          <p:cNvPr id="20" name="Rounded Rectangle 19"/>
          <p:cNvSpPr/>
          <p:nvPr/>
        </p:nvSpPr>
        <p:spPr>
          <a:xfrm>
            <a:off x="7626096" y="2542032"/>
            <a:ext cx="1700784" cy="1965960"/>
          </a:xfrm>
          <a:prstGeom prst="roundRect">
            <a:avLst/>
          </a:prstGeom>
          <a:solidFill>
            <a:srgbClr val="F7F0E3"/>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35823" y="2752344"/>
            <a:ext cx="1481328" cy="210312"/>
          </a:xfrm>
          <a:prstGeom prst="rect">
            <a:avLst/>
          </a:prstGeom>
          <a:noFill/>
        </p:spPr>
        <p:txBody>
          <a:bodyPr wrap="square" lIns="45720" tIns="32004" rIns="45720" bIns="22860" anchor="ctr">
            <a:spAutoFit/>
          </a:bodyPr>
          <a:lstStyle/>
          <a:p>
            <a:pPr algn="ctr">
              <a:defRPr sz="900" b="1">
                <a:solidFill>
                  <a:srgbClr val="DA9A3C"/>
                </a:solidFill>
                <a:latin typeface="Aptos"/>
              </a:defRPr>
            </a:pPr>
            <a:r>
              <a:t>4  SAVE</a:t>
            </a:r>
          </a:p>
        </p:txBody>
      </p:sp>
      <p:sp>
        <p:nvSpPr>
          <p:cNvPr id="22" name="TextBox 21"/>
          <p:cNvSpPr txBox="1"/>
          <p:nvPr/>
        </p:nvSpPr>
        <p:spPr>
          <a:xfrm>
            <a:off x="7735823" y="3108960"/>
            <a:ext cx="1481328" cy="329184"/>
          </a:xfrm>
          <a:prstGeom prst="rect">
            <a:avLst/>
          </a:prstGeom>
          <a:noFill/>
        </p:spPr>
        <p:txBody>
          <a:bodyPr wrap="square" lIns="45720" tIns="32004" rIns="45720" bIns="22860" anchor="ctr">
            <a:spAutoFit/>
          </a:bodyPr>
          <a:lstStyle/>
          <a:p>
            <a:pPr algn="ctr">
              <a:defRPr sz="1600" b="1">
                <a:solidFill>
                  <a:srgbClr val="102033"/>
                </a:solidFill>
                <a:latin typeface="Aptos"/>
              </a:defRPr>
            </a:pPr>
            <a:r>
              <a:t>SQLite</a:t>
            </a:r>
          </a:p>
        </p:txBody>
      </p:sp>
      <p:sp>
        <p:nvSpPr>
          <p:cNvPr id="23" name="TextBox 22"/>
          <p:cNvSpPr txBox="1"/>
          <p:nvPr/>
        </p:nvSpPr>
        <p:spPr>
          <a:xfrm>
            <a:off x="7735823" y="3538728"/>
            <a:ext cx="1481328" cy="713232"/>
          </a:xfrm>
          <a:prstGeom prst="rect">
            <a:avLst/>
          </a:prstGeom>
          <a:noFill/>
        </p:spPr>
        <p:txBody>
          <a:bodyPr wrap="square" lIns="45720" tIns="32004" rIns="45720" bIns="22860" anchor="ctr">
            <a:spAutoFit/>
          </a:bodyPr>
          <a:lstStyle/>
          <a:p>
            <a:pPr algn="ctr">
              <a:defRPr sz="1100" b="0">
                <a:solidFill>
                  <a:srgbClr val="536276"/>
                </a:solidFill>
                <a:latin typeface="Aptos"/>
              </a:defRPr>
            </a:pPr>
            <a:r>
              <a:t>Case records,</a:t>
            </a:r>
          </a:p>
          <a:p>
            <a:pPr algn="ctr">
              <a:defRPr sz="1100" b="0">
                <a:solidFill>
                  <a:srgbClr val="536276"/>
                </a:solidFill>
                <a:latin typeface="Aptos"/>
              </a:defRPr>
            </a:pPr>
            <a:r>
              <a:t>entities, and</a:t>
            </a:r>
          </a:p>
          <a:p>
            <a:pPr algn="ctr">
              <a:defRPr sz="1100" b="0">
                <a:solidFill>
                  <a:srgbClr val="536276"/>
                </a:solidFill>
                <a:latin typeface="Aptos"/>
              </a:defRPr>
            </a:pPr>
            <a:r>
              <a:t>relationships</a:t>
            </a:r>
          </a:p>
        </p:txBody>
      </p:sp>
      <p:sp>
        <p:nvSpPr>
          <p:cNvPr id="24" name="Rounded Rectangle 23"/>
          <p:cNvSpPr/>
          <p:nvPr/>
        </p:nvSpPr>
        <p:spPr>
          <a:xfrm>
            <a:off x="9582912" y="2542032"/>
            <a:ext cx="1947672" cy="1965960"/>
          </a:xfrm>
          <a:prstGeom prst="roundRect">
            <a:avLst/>
          </a:prstGeom>
          <a:solidFill>
            <a:srgbClr val="E9F3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92640" y="2752344"/>
            <a:ext cx="1728216" cy="210312"/>
          </a:xfrm>
          <a:prstGeom prst="rect">
            <a:avLst/>
          </a:prstGeom>
          <a:noFill/>
        </p:spPr>
        <p:txBody>
          <a:bodyPr wrap="square" lIns="45720" tIns="32004" rIns="45720" bIns="22860" anchor="ctr">
            <a:spAutoFit/>
          </a:bodyPr>
          <a:lstStyle/>
          <a:p>
            <a:pPr algn="ctr">
              <a:defRPr sz="900" b="1">
                <a:solidFill>
                  <a:srgbClr val="168A8A"/>
                </a:solidFill>
                <a:latin typeface="Aptos"/>
              </a:defRPr>
            </a:pPr>
            <a:r>
              <a:t>5  DISPLAY</a:t>
            </a:r>
          </a:p>
        </p:txBody>
      </p:sp>
      <p:sp>
        <p:nvSpPr>
          <p:cNvPr id="26" name="TextBox 25"/>
          <p:cNvSpPr txBox="1"/>
          <p:nvPr/>
        </p:nvSpPr>
        <p:spPr>
          <a:xfrm>
            <a:off x="9692640" y="3108960"/>
            <a:ext cx="1728216" cy="329184"/>
          </a:xfrm>
          <a:prstGeom prst="rect">
            <a:avLst/>
          </a:prstGeom>
          <a:noFill/>
        </p:spPr>
        <p:txBody>
          <a:bodyPr wrap="square" lIns="45720" tIns="32004" rIns="45720" bIns="22860" anchor="ctr">
            <a:spAutoFit/>
          </a:bodyPr>
          <a:lstStyle/>
          <a:p>
            <a:pPr algn="ctr">
              <a:defRPr sz="1600" b="1">
                <a:solidFill>
                  <a:srgbClr val="102033"/>
                </a:solidFill>
                <a:latin typeface="Aptos"/>
              </a:defRPr>
            </a:pPr>
            <a:r>
              <a:t>Streamlit graph</a:t>
            </a:r>
          </a:p>
        </p:txBody>
      </p:sp>
      <p:sp>
        <p:nvSpPr>
          <p:cNvPr id="27" name="TextBox 26"/>
          <p:cNvSpPr txBox="1"/>
          <p:nvPr/>
        </p:nvSpPr>
        <p:spPr>
          <a:xfrm>
            <a:off x="9692640" y="3538728"/>
            <a:ext cx="1728216" cy="713232"/>
          </a:xfrm>
          <a:prstGeom prst="rect">
            <a:avLst/>
          </a:prstGeom>
          <a:noFill/>
        </p:spPr>
        <p:txBody>
          <a:bodyPr wrap="square" lIns="45720" tIns="32004" rIns="45720" bIns="22860" anchor="ctr">
            <a:spAutoFit/>
          </a:bodyPr>
          <a:lstStyle/>
          <a:p>
            <a:pPr algn="ctr">
              <a:defRPr sz="1100" b="0">
                <a:solidFill>
                  <a:srgbClr val="536276"/>
                </a:solidFill>
                <a:latin typeface="Aptos"/>
              </a:defRPr>
            </a:pPr>
            <a:r>
              <a:t>Graphviz view</a:t>
            </a:r>
          </a:p>
          <a:p>
            <a:pPr algn="ctr">
              <a:defRPr sz="1100" b="0">
                <a:solidFill>
                  <a:srgbClr val="536276"/>
                </a:solidFill>
                <a:latin typeface="Aptos"/>
              </a:defRPr>
            </a:pPr>
            <a:r>
              <a:t>Entity and link</a:t>
            </a:r>
          </a:p>
          <a:p>
            <a:pPr algn="ctr">
              <a:defRPr sz="1100" b="0">
                <a:solidFill>
                  <a:srgbClr val="536276"/>
                </a:solidFill>
                <a:latin typeface="Aptos"/>
              </a:defRPr>
            </a:pPr>
            <a:r>
              <a:t>tables</a:t>
            </a:r>
          </a:p>
        </p:txBody>
      </p:sp>
      <p:cxnSp>
        <p:nvCxnSpPr>
          <p:cNvPr id="28" name="Connector 27"/>
          <p:cNvCxnSpPr/>
          <p:nvPr/>
        </p:nvCxnSpPr>
        <p:spPr>
          <a:xfrm>
            <a:off x="2496312" y="3529584"/>
            <a:ext cx="228600" cy="0"/>
          </a:xfrm>
          <a:prstGeom prst="line">
            <a:avLst/>
          </a:prstGeom>
          <a:ln w="30480">
            <a:solidFill>
              <a:srgbClr val="168A8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617720" y="3529584"/>
            <a:ext cx="228600" cy="0"/>
          </a:xfrm>
          <a:prstGeom prst="line">
            <a:avLst/>
          </a:prstGeom>
          <a:ln w="30480">
            <a:solidFill>
              <a:srgbClr val="168A8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379208" y="3529584"/>
            <a:ext cx="210312" cy="0"/>
          </a:xfrm>
          <a:prstGeom prst="line">
            <a:avLst/>
          </a:prstGeom>
          <a:ln w="30480">
            <a:solidFill>
              <a:srgbClr val="168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345168" y="3529584"/>
            <a:ext cx="210312" cy="0"/>
          </a:xfrm>
          <a:prstGeom prst="line">
            <a:avLst/>
          </a:prstGeom>
          <a:ln w="30480">
            <a:solidFill>
              <a:srgbClr val="168A8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68680" y="5120640"/>
            <a:ext cx="10469880" cy="612648"/>
          </a:xfrm>
          <a:prstGeom prst="roundRect">
            <a:avLst/>
          </a:prstGeom>
          <a:solidFill>
            <a:srgbClr val="FFF7E9"/>
          </a:solidFill>
          <a:ln w="12700">
            <a:solidFill>
              <a:srgbClr val="F0D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78992" y="5285232"/>
            <a:ext cx="10058400" cy="274320"/>
          </a:xfrm>
          <a:prstGeom prst="rect">
            <a:avLst/>
          </a:prstGeom>
          <a:noFill/>
        </p:spPr>
        <p:txBody>
          <a:bodyPr wrap="square" lIns="45720" tIns="32004" rIns="45720" bIns="22860" anchor="ctr">
            <a:spAutoFit/>
          </a:bodyPr>
          <a:lstStyle/>
          <a:p>
            <a:pPr algn="ctr">
              <a:defRPr sz="1350" b="1">
                <a:solidFill>
                  <a:srgbClr val="102033"/>
                </a:solidFill>
                <a:latin typeface="Aptos"/>
              </a:defRPr>
            </a:pPr>
            <a:r>
              <a:t>Local Python workflow • no HTTP API calls • results need human 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10972800" cy="182880"/>
          </a:xfrm>
          <a:prstGeom prst="rect">
            <a:avLst/>
          </a:prstGeom>
          <a:noFill/>
        </p:spPr>
        <p:txBody>
          <a:bodyPr wrap="square" lIns="45720" tIns="32004" rIns="45720" bIns="22860" anchor="ctr">
            <a:spAutoFit/>
          </a:bodyPr>
          <a:lstStyle/>
          <a:p>
            <a:pPr algn="l">
              <a:defRPr sz="800" b="1">
                <a:solidFill>
                  <a:srgbClr val="168A8A"/>
                </a:solidFill>
                <a:latin typeface="Aptos"/>
              </a:defRPr>
            </a:pPr>
            <a:r>
              <a:t>CRIMEGRAPH AI     /     PROJECT REVIEW                                      04 / 5</a:t>
            </a:r>
          </a:p>
        </p:txBody>
      </p:sp>
      <p:sp>
        <p:nvSpPr>
          <p:cNvPr id="3" name="TextBox 2"/>
          <p:cNvSpPr txBox="1"/>
          <p:nvPr/>
        </p:nvSpPr>
        <p:spPr>
          <a:xfrm>
            <a:off x="621792" y="713232"/>
            <a:ext cx="10881360" cy="219456"/>
          </a:xfrm>
          <a:prstGeom prst="rect">
            <a:avLst/>
          </a:prstGeom>
          <a:noFill/>
        </p:spPr>
        <p:txBody>
          <a:bodyPr wrap="square" lIns="45720" tIns="32004" rIns="45720" bIns="22860" anchor="ctr">
            <a:spAutoFit/>
          </a:bodyPr>
          <a:lstStyle/>
          <a:p>
            <a:pPr algn="l">
              <a:defRPr sz="1000" b="1">
                <a:solidFill>
                  <a:srgbClr val="DA9A3C"/>
                </a:solidFill>
                <a:latin typeface="Aptos"/>
              </a:defRPr>
            </a:pPr>
            <a:r>
              <a:t>MODEL COMPARISON</a:t>
            </a:r>
          </a:p>
        </p:txBody>
      </p:sp>
      <p:sp>
        <p:nvSpPr>
          <p:cNvPr id="4" name="TextBox 3"/>
          <p:cNvSpPr txBox="1"/>
          <p:nvPr/>
        </p:nvSpPr>
        <p:spPr>
          <a:xfrm>
            <a:off x="566928" y="1005840"/>
            <a:ext cx="10972800" cy="530352"/>
          </a:xfrm>
          <a:prstGeom prst="rect">
            <a:avLst/>
          </a:prstGeom>
          <a:noFill/>
        </p:spPr>
        <p:txBody>
          <a:bodyPr wrap="square" lIns="45720" tIns="32004" rIns="45720" bIns="22860" anchor="ctr">
            <a:spAutoFit/>
          </a:bodyPr>
          <a:lstStyle/>
          <a:p>
            <a:pPr algn="l">
              <a:defRPr sz="2700" b="1">
                <a:solidFill>
                  <a:srgbClr val="102033"/>
                </a:solidFill>
                <a:latin typeface="Aptos"/>
              </a:defRPr>
            </a:pPr>
            <a:r>
              <a:t>The two classifiers used in the app</a:t>
            </a:r>
          </a:p>
        </p:txBody>
      </p:sp>
      <p:sp>
        <p:nvSpPr>
          <p:cNvPr id="5" name="TextBox 4"/>
          <p:cNvSpPr txBox="1"/>
          <p:nvPr/>
        </p:nvSpPr>
        <p:spPr>
          <a:xfrm>
            <a:off x="612648" y="1609344"/>
            <a:ext cx="10881360" cy="329184"/>
          </a:xfrm>
          <a:prstGeom prst="rect">
            <a:avLst/>
          </a:prstGeom>
          <a:noFill/>
        </p:spPr>
        <p:txBody>
          <a:bodyPr wrap="square" lIns="45720" tIns="32004" rIns="45720" bIns="22860" anchor="ctr">
            <a:spAutoFit/>
          </a:bodyPr>
          <a:lstStyle/>
          <a:p>
            <a:pPr algn="l">
              <a:defRPr sz="1250" b="0">
                <a:solidFill>
                  <a:srgbClr val="536276"/>
                </a:solidFill>
                <a:latin typeface="Aptos"/>
              </a:defRPr>
            </a:pPr>
            <a:r>
              <a:t>A quick comparison of what goes in, what each model does, and what comes out.</a:t>
            </a:r>
          </a:p>
        </p:txBody>
      </p:sp>
      <p:sp>
        <p:nvSpPr>
          <p:cNvPr id="6" name="Rectangle 5"/>
          <p:cNvSpPr/>
          <p:nvPr/>
        </p:nvSpPr>
        <p:spPr>
          <a:xfrm>
            <a:off x="566928" y="6428232"/>
            <a:ext cx="11018520" cy="10972"/>
          </a:xfrm>
          <a:prstGeom prst="rect">
            <a:avLst/>
          </a:prstGeom>
          <a:solidFill>
            <a:srgbClr val="D7DFE8"/>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92240"/>
            <a:ext cx="10424160" cy="164592"/>
          </a:xfrm>
          <a:prstGeom prst="rect">
            <a:avLst/>
          </a:prstGeom>
          <a:noFill/>
        </p:spPr>
        <p:txBody>
          <a:bodyPr wrap="square" lIns="45720" tIns="32004" rIns="45720" bIns="22860" anchor="ctr">
            <a:spAutoFit/>
          </a:bodyPr>
          <a:lstStyle/>
          <a:p>
            <a:pPr algn="l">
              <a:defRPr sz="780" b="0">
                <a:solidFill>
                  <a:srgbClr val="536276"/>
                </a:solidFill>
                <a:latin typeface="Aptos"/>
              </a:defRPr>
            </a:pPr>
            <a:r>
              <a:t>CLASSROOM PROTOTYPE   •   FICTIONAL / GENERATED DATA   •   HUMAN REVIEW REQUIRED</a:t>
            </a:r>
          </a:p>
        </p:txBody>
      </p:sp>
      <p:sp>
        <p:nvSpPr>
          <p:cNvPr id="8" name="Rectangle 7"/>
          <p:cNvSpPr/>
          <p:nvPr/>
        </p:nvSpPr>
        <p:spPr>
          <a:xfrm>
            <a:off x="713232" y="2304288"/>
            <a:ext cx="1911095" cy="502920"/>
          </a:xfrm>
          <a:prstGeom prst="rect">
            <a:avLst/>
          </a:prstGeom>
          <a:solidFill>
            <a:srgbClr val="14213A"/>
          </a:solidFill>
          <a:ln w="12700">
            <a:solidFill>
              <a:srgbClr val="142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432304"/>
            <a:ext cx="1691639" cy="201168"/>
          </a:xfrm>
          <a:prstGeom prst="rect">
            <a:avLst/>
          </a:prstGeom>
          <a:noFill/>
        </p:spPr>
        <p:txBody>
          <a:bodyPr wrap="square" lIns="45720" tIns="32004" rIns="45720" bIns="22860" anchor="ctr">
            <a:spAutoFit/>
          </a:bodyPr>
          <a:lstStyle/>
          <a:p>
            <a:pPr algn="l">
              <a:defRPr sz="1000" b="1">
                <a:solidFill>
                  <a:srgbClr val="FFFFFF"/>
                </a:solidFill>
                <a:latin typeface="Aptos"/>
              </a:defRPr>
            </a:pPr>
            <a:r>
              <a:t>MODEL</a:t>
            </a:r>
          </a:p>
        </p:txBody>
      </p:sp>
      <p:sp>
        <p:nvSpPr>
          <p:cNvPr id="10" name="Rectangle 9"/>
          <p:cNvSpPr/>
          <p:nvPr/>
        </p:nvSpPr>
        <p:spPr>
          <a:xfrm>
            <a:off x="2660904" y="2304288"/>
            <a:ext cx="2203704" cy="502920"/>
          </a:xfrm>
          <a:prstGeom prst="rect">
            <a:avLst/>
          </a:prstGeom>
          <a:solidFill>
            <a:srgbClr val="14213A"/>
          </a:solidFill>
          <a:ln w="12700">
            <a:solidFill>
              <a:srgbClr val="142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70632" y="2432304"/>
            <a:ext cx="1984248" cy="201168"/>
          </a:xfrm>
          <a:prstGeom prst="rect">
            <a:avLst/>
          </a:prstGeom>
          <a:noFill/>
        </p:spPr>
        <p:txBody>
          <a:bodyPr wrap="square" lIns="45720" tIns="32004" rIns="45720" bIns="22860" anchor="ctr">
            <a:spAutoFit/>
          </a:bodyPr>
          <a:lstStyle/>
          <a:p>
            <a:pPr algn="l">
              <a:defRPr sz="1000" b="1">
                <a:solidFill>
                  <a:srgbClr val="FFFFFF"/>
                </a:solidFill>
                <a:latin typeface="Aptos"/>
              </a:defRPr>
            </a:pPr>
            <a:r>
              <a:t>SAMPLE INPUT</a:t>
            </a:r>
          </a:p>
        </p:txBody>
      </p:sp>
      <p:sp>
        <p:nvSpPr>
          <p:cNvPr id="12" name="Rectangle 11"/>
          <p:cNvSpPr/>
          <p:nvPr/>
        </p:nvSpPr>
        <p:spPr>
          <a:xfrm>
            <a:off x="4901184" y="2304288"/>
            <a:ext cx="3712463" cy="502920"/>
          </a:xfrm>
          <a:prstGeom prst="rect">
            <a:avLst/>
          </a:prstGeom>
          <a:solidFill>
            <a:srgbClr val="14213A"/>
          </a:solidFill>
          <a:ln w="12700">
            <a:solidFill>
              <a:srgbClr val="142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10912" y="2432304"/>
            <a:ext cx="3493007" cy="201168"/>
          </a:xfrm>
          <a:prstGeom prst="rect">
            <a:avLst/>
          </a:prstGeom>
          <a:noFill/>
        </p:spPr>
        <p:txBody>
          <a:bodyPr wrap="square" lIns="45720" tIns="32004" rIns="45720" bIns="22860" anchor="ctr">
            <a:spAutoFit/>
          </a:bodyPr>
          <a:lstStyle/>
          <a:p>
            <a:pPr algn="l">
              <a:defRPr sz="1000" b="1">
                <a:solidFill>
                  <a:srgbClr val="FFFFFF"/>
                </a:solidFill>
                <a:latin typeface="Aptos"/>
              </a:defRPr>
            </a:pPr>
            <a:r>
              <a:t>WHAT IT DOES</a:t>
            </a:r>
          </a:p>
        </p:txBody>
      </p:sp>
      <p:sp>
        <p:nvSpPr>
          <p:cNvPr id="14" name="Rectangle 13"/>
          <p:cNvSpPr/>
          <p:nvPr/>
        </p:nvSpPr>
        <p:spPr>
          <a:xfrm>
            <a:off x="8650224" y="2304288"/>
            <a:ext cx="2459736" cy="502920"/>
          </a:xfrm>
          <a:prstGeom prst="rect">
            <a:avLst/>
          </a:prstGeom>
          <a:solidFill>
            <a:srgbClr val="14213A"/>
          </a:solidFill>
          <a:ln w="12700">
            <a:solidFill>
              <a:srgbClr val="142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59952" y="2432304"/>
            <a:ext cx="2240280" cy="201168"/>
          </a:xfrm>
          <a:prstGeom prst="rect">
            <a:avLst/>
          </a:prstGeom>
          <a:noFill/>
        </p:spPr>
        <p:txBody>
          <a:bodyPr wrap="square" lIns="45720" tIns="32004" rIns="45720" bIns="22860" anchor="ctr">
            <a:spAutoFit/>
          </a:bodyPr>
          <a:lstStyle/>
          <a:p>
            <a:pPr algn="l">
              <a:defRPr sz="1000" b="1">
                <a:solidFill>
                  <a:srgbClr val="FFFFFF"/>
                </a:solidFill>
                <a:latin typeface="Aptos"/>
              </a:defRPr>
            </a:pPr>
            <a:r>
              <a:t>TRAINING SETUP</a:t>
            </a:r>
          </a:p>
        </p:txBody>
      </p:sp>
      <p:sp>
        <p:nvSpPr>
          <p:cNvPr id="16" name="Rectangle 15"/>
          <p:cNvSpPr/>
          <p:nvPr/>
        </p:nvSpPr>
        <p:spPr>
          <a:xfrm>
            <a:off x="713232" y="2880360"/>
            <a:ext cx="1911095" cy="886968"/>
          </a:xfrm>
          <a:prstGeom prst="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2999232"/>
            <a:ext cx="1691639" cy="630936"/>
          </a:xfrm>
          <a:prstGeom prst="rect">
            <a:avLst/>
          </a:prstGeom>
          <a:noFill/>
        </p:spPr>
        <p:txBody>
          <a:bodyPr wrap="square" lIns="45720" tIns="32004" rIns="45720" bIns="22860" anchor="ctr">
            <a:spAutoFit/>
          </a:bodyPr>
          <a:lstStyle/>
          <a:p>
            <a:pPr algn="l">
              <a:defRPr sz="1110" b="1">
                <a:solidFill>
                  <a:srgbClr val="102033"/>
                </a:solidFill>
                <a:latin typeface="Aptos"/>
              </a:defRPr>
            </a:pPr>
            <a:r>
              <a:t>Traffic</a:t>
            </a:r>
          </a:p>
        </p:txBody>
      </p:sp>
      <p:sp>
        <p:nvSpPr>
          <p:cNvPr id="18" name="Rectangle 17"/>
          <p:cNvSpPr/>
          <p:nvPr/>
        </p:nvSpPr>
        <p:spPr>
          <a:xfrm>
            <a:off x="2660904" y="2880360"/>
            <a:ext cx="2203704" cy="886968"/>
          </a:xfrm>
          <a:prstGeom prst="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70632" y="2999232"/>
            <a:ext cx="1984248" cy="630936"/>
          </a:xfrm>
          <a:prstGeom prst="rect">
            <a:avLst/>
          </a:prstGeom>
          <a:noFill/>
        </p:spPr>
        <p:txBody>
          <a:bodyPr wrap="square" lIns="45720" tIns="32004" rIns="45720" bIns="22860" anchor="ctr">
            <a:spAutoFit/>
          </a:bodyPr>
          <a:lstStyle/>
          <a:p>
            <a:pPr algn="l">
              <a:defRPr sz="1110" b="0">
                <a:solidFill>
                  <a:srgbClr val="536276"/>
                </a:solidFill>
                <a:latin typeface="Aptos"/>
              </a:defRPr>
            </a:pPr>
            <a:r>
              <a:t>One flow → 8 × 15</a:t>
            </a:r>
          </a:p>
          <a:p>
            <a:pPr algn="l">
              <a:defRPr sz="1110" b="0">
                <a:solidFill>
                  <a:srgbClr val="536276"/>
                </a:solidFill>
                <a:latin typeface="Aptos"/>
              </a:defRPr>
            </a:pPr>
            <a:r>
              <a:t>model window</a:t>
            </a:r>
          </a:p>
        </p:txBody>
      </p:sp>
      <p:sp>
        <p:nvSpPr>
          <p:cNvPr id="20" name="Rectangle 19"/>
          <p:cNvSpPr/>
          <p:nvPr/>
        </p:nvSpPr>
        <p:spPr>
          <a:xfrm>
            <a:off x="4901184" y="2880360"/>
            <a:ext cx="3712463" cy="886968"/>
          </a:xfrm>
          <a:prstGeom prst="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10912" y="2999232"/>
            <a:ext cx="3493007" cy="630936"/>
          </a:xfrm>
          <a:prstGeom prst="rect">
            <a:avLst/>
          </a:prstGeom>
          <a:noFill/>
        </p:spPr>
        <p:txBody>
          <a:bodyPr wrap="square" lIns="45720" tIns="32004" rIns="45720" bIns="22860" anchor="ctr">
            <a:spAutoFit/>
          </a:bodyPr>
          <a:lstStyle/>
          <a:p>
            <a:pPr algn="l">
              <a:defRPr sz="1110" b="0">
                <a:solidFill>
                  <a:srgbClr val="536276"/>
                </a:solidFill>
                <a:latin typeface="Aptos"/>
              </a:defRPr>
            </a:pPr>
            <a:r>
              <a:t>CNN-LSTM predicts benign or malicious traffic</a:t>
            </a:r>
          </a:p>
        </p:txBody>
      </p:sp>
      <p:sp>
        <p:nvSpPr>
          <p:cNvPr id="22" name="Rectangle 21"/>
          <p:cNvSpPr/>
          <p:nvPr/>
        </p:nvSpPr>
        <p:spPr>
          <a:xfrm>
            <a:off x="8650224" y="2880360"/>
            <a:ext cx="2459736" cy="886968"/>
          </a:xfrm>
          <a:prstGeom prst="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759952" y="2999232"/>
            <a:ext cx="2240280" cy="630936"/>
          </a:xfrm>
          <a:prstGeom prst="rect">
            <a:avLst/>
          </a:prstGeom>
          <a:noFill/>
        </p:spPr>
        <p:txBody>
          <a:bodyPr wrap="square" lIns="45720" tIns="32004" rIns="45720" bIns="22860" anchor="ctr">
            <a:spAutoFit/>
          </a:bodyPr>
          <a:lstStyle/>
          <a:p>
            <a:pPr algn="l">
              <a:defRPr sz="1110" b="0">
                <a:solidFill>
                  <a:srgbClr val="536276"/>
                </a:solidFill>
                <a:latin typeface="Aptos"/>
              </a:defRPr>
            </a:pPr>
            <a:r>
              <a:t>10,000 generated flows</a:t>
            </a:r>
          </a:p>
          <a:p>
            <a:pPr algn="l">
              <a:defRPr sz="1110" b="0">
                <a:solidFill>
                  <a:srgbClr val="536276"/>
                </a:solidFill>
                <a:latin typeface="Aptos"/>
              </a:defRPr>
            </a:pPr>
            <a:r>
              <a:t>50 epochs</a:t>
            </a:r>
          </a:p>
        </p:txBody>
      </p:sp>
      <p:sp>
        <p:nvSpPr>
          <p:cNvPr id="24" name="Rectangle 23"/>
          <p:cNvSpPr/>
          <p:nvPr/>
        </p:nvSpPr>
        <p:spPr>
          <a:xfrm>
            <a:off x="713232" y="3913631"/>
            <a:ext cx="1911095" cy="886968"/>
          </a:xfrm>
          <a:prstGeom prst="rect">
            <a:avLst/>
          </a:prstGeom>
          <a:solidFill>
            <a:srgbClr val="F9FBFC"/>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4032503"/>
            <a:ext cx="1691639" cy="630936"/>
          </a:xfrm>
          <a:prstGeom prst="rect">
            <a:avLst/>
          </a:prstGeom>
          <a:noFill/>
        </p:spPr>
        <p:txBody>
          <a:bodyPr wrap="square" lIns="45720" tIns="32004" rIns="45720" bIns="22860" anchor="ctr">
            <a:spAutoFit/>
          </a:bodyPr>
          <a:lstStyle/>
          <a:p>
            <a:pPr algn="l">
              <a:defRPr sz="1110" b="1">
                <a:solidFill>
                  <a:srgbClr val="102033"/>
                </a:solidFill>
                <a:latin typeface="Aptos"/>
              </a:defRPr>
            </a:pPr>
            <a:r>
              <a:t>File type</a:t>
            </a:r>
          </a:p>
        </p:txBody>
      </p:sp>
      <p:sp>
        <p:nvSpPr>
          <p:cNvPr id="26" name="Rectangle 25"/>
          <p:cNvSpPr/>
          <p:nvPr/>
        </p:nvSpPr>
        <p:spPr>
          <a:xfrm>
            <a:off x="2660904" y="3913631"/>
            <a:ext cx="2203704" cy="886968"/>
          </a:xfrm>
          <a:prstGeom prst="rect">
            <a:avLst/>
          </a:prstGeom>
          <a:solidFill>
            <a:srgbClr val="F9FBFC"/>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70632" y="4032503"/>
            <a:ext cx="1984248" cy="630936"/>
          </a:xfrm>
          <a:prstGeom prst="rect">
            <a:avLst/>
          </a:prstGeom>
          <a:noFill/>
        </p:spPr>
        <p:txBody>
          <a:bodyPr wrap="square" lIns="45720" tIns="32004" rIns="45720" bIns="22860" anchor="ctr">
            <a:spAutoFit/>
          </a:bodyPr>
          <a:lstStyle/>
          <a:p>
            <a:pPr algn="l">
              <a:defRPr sz="1110" b="0">
                <a:solidFill>
                  <a:srgbClr val="536276"/>
                </a:solidFill>
                <a:latin typeface="Aptos"/>
              </a:defRPr>
            </a:pPr>
            <a:r>
              <a:t>Hexadecimal byte sample</a:t>
            </a:r>
          </a:p>
        </p:txBody>
      </p:sp>
      <p:sp>
        <p:nvSpPr>
          <p:cNvPr id="28" name="Rectangle 27"/>
          <p:cNvSpPr/>
          <p:nvPr/>
        </p:nvSpPr>
        <p:spPr>
          <a:xfrm>
            <a:off x="4901184" y="3913631"/>
            <a:ext cx="3712463" cy="886968"/>
          </a:xfrm>
          <a:prstGeom prst="rect">
            <a:avLst/>
          </a:prstGeom>
          <a:solidFill>
            <a:srgbClr val="F9FBFC"/>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10912" y="4032503"/>
            <a:ext cx="3493007" cy="630936"/>
          </a:xfrm>
          <a:prstGeom prst="rect">
            <a:avLst/>
          </a:prstGeom>
          <a:noFill/>
        </p:spPr>
        <p:txBody>
          <a:bodyPr wrap="square" lIns="45720" tIns="32004" rIns="45720" bIns="22860" anchor="ctr">
            <a:spAutoFit/>
          </a:bodyPr>
          <a:lstStyle/>
          <a:p>
            <a:pPr algn="l">
              <a:defRPr sz="1110" b="0">
                <a:solidFill>
                  <a:srgbClr val="536276"/>
                </a:solidFill>
                <a:latin typeface="Aptos"/>
              </a:defRPr>
            </a:pPr>
            <a:r>
              <a:t>TF-IDF + MLP predicts one of six file categories</a:t>
            </a:r>
          </a:p>
        </p:txBody>
      </p:sp>
      <p:sp>
        <p:nvSpPr>
          <p:cNvPr id="30" name="Rectangle 29"/>
          <p:cNvSpPr/>
          <p:nvPr/>
        </p:nvSpPr>
        <p:spPr>
          <a:xfrm>
            <a:off x="8650224" y="3913631"/>
            <a:ext cx="2459736" cy="886968"/>
          </a:xfrm>
          <a:prstGeom prst="rect">
            <a:avLst/>
          </a:prstGeom>
          <a:solidFill>
            <a:srgbClr val="F9FBFC"/>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59952" y="4032503"/>
            <a:ext cx="2240280" cy="630936"/>
          </a:xfrm>
          <a:prstGeom prst="rect">
            <a:avLst/>
          </a:prstGeom>
          <a:noFill/>
        </p:spPr>
        <p:txBody>
          <a:bodyPr wrap="square" lIns="45720" tIns="32004" rIns="45720" bIns="22860" anchor="ctr">
            <a:spAutoFit/>
          </a:bodyPr>
          <a:lstStyle/>
          <a:p>
            <a:pPr algn="l">
              <a:defRPr sz="1110" b="0">
                <a:solidFill>
                  <a:srgbClr val="536276"/>
                </a:solidFill>
                <a:latin typeface="Aptos"/>
              </a:defRPr>
            </a:pPr>
            <a:r>
              <a:t>6,000 generated samples</a:t>
            </a:r>
          </a:p>
          <a:p>
            <a:pPr algn="l">
              <a:defRPr sz="1110" b="0">
                <a:solidFill>
                  <a:srgbClr val="536276"/>
                </a:solidFill>
                <a:latin typeface="Aptos"/>
              </a:defRPr>
            </a:pPr>
            <a:r>
              <a:t>50 epochs</a:t>
            </a:r>
          </a:p>
        </p:txBody>
      </p:sp>
      <p:sp>
        <p:nvSpPr>
          <p:cNvPr id="32" name="Rounded Rectangle 31"/>
          <p:cNvSpPr/>
          <p:nvPr/>
        </p:nvSpPr>
        <p:spPr>
          <a:xfrm>
            <a:off x="758952" y="5285232"/>
            <a:ext cx="10725912" cy="630936"/>
          </a:xfrm>
          <a:prstGeom prst="roundRect">
            <a:avLst/>
          </a:prstGeom>
          <a:solidFill>
            <a:srgbClr val="FFF7E9"/>
          </a:solidFill>
          <a:ln w="12700">
            <a:solidFill>
              <a:srgbClr val="F0D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2688" y="5440680"/>
            <a:ext cx="10332720" cy="310896"/>
          </a:xfrm>
          <a:prstGeom prst="rect">
            <a:avLst/>
          </a:prstGeom>
          <a:noFill/>
        </p:spPr>
        <p:txBody>
          <a:bodyPr wrap="square" lIns="45720" tIns="32004" rIns="45720" bIns="22860" anchor="ctr">
            <a:spAutoFit/>
          </a:bodyPr>
          <a:lstStyle/>
          <a:p>
            <a:pPr algn="ctr">
              <a:defRPr sz="1110" b="1">
                <a:solidFill>
                  <a:srgbClr val="102033"/>
                </a:solidFill>
                <a:latin typeface="Aptos"/>
              </a:defRPr>
            </a:pPr>
            <a:r>
              <a:t>Important: the examples are generated by the training code — the original named datasets were not used in the default runs.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10972800" cy="182880"/>
          </a:xfrm>
          <a:prstGeom prst="rect">
            <a:avLst/>
          </a:prstGeom>
          <a:noFill/>
        </p:spPr>
        <p:txBody>
          <a:bodyPr wrap="square" lIns="45720" tIns="32004" rIns="45720" bIns="22860" anchor="ctr">
            <a:spAutoFit/>
          </a:bodyPr>
          <a:lstStyle/>
          <a:p>
            <a:pPr algn="l">
              <a:defRPr sz="800" b="1">
                <a:solidFill>
                  <a:srgbClr val="168A8A"/>
                </a:solidFill>
                <a:latin typeface="Aptos"/>
              </a:defRPr>
            </a:pPr>
            <a:r>
              <a:t>CRIMEGRAPH AI     /     PROJECT REVIEW                                      05 / 5</a:t>
            </a:r>
          </a:p>
        </p:txBody>
      </p:sp>
      <p:sp>
        <p:nvSpPr>
          <p:cNvPr id="3" name="TextBox 2"/>
          <p:cNvSpPr txBox="1"/>
          <p:nvPr/>
        </p:nvSpPr>
        <p:spPr>
          <a:xfrm>
            <a:off x="621792" y="713232"/>
            <a:ext cx="10881360" cy="219456"/>
          </a:xfrm>
          <a:prstGeom prst="rect">
            <a:avLst/>
          </a:prstGeom>
          <a:noFill/>
        </p:spPr>
        <p:txBody>
          <a:bodyPr wrap="square" lIns="45720" tIns="32004" rIns="45720" bIns="22860" anchor="ctr">
            <a:spAutoFit/>
          </a:bodyPr>
          <a:lstStyle/>
          <a:p>
            <a:pPr algn="l">
              <a:defRPr sz="1000" b="1">
                <a:solidFill>
                  <a:srgbClr val="DA9A3C"/>
                </a:solidFill>
                <a:latin typeface="Aptos"/>
              </a:defRPr>
            </a:pPr>
            <a:r>
              <a:t>RESULTS</a:t>
            </a:r>
          </a:p>
        </p:txBody>
      </p:sp>
      <p:sp>
        <p:nvSpPr>
          <p:cNvPr id="4" name="TextBox 3"/>
          <p:cNvSpPr txBox="1"/>
          <p:nvPr/>
        </p:nvSpPr>
        <p:spPr>
          <a:xfrm>
            <a:off x="566928" y="1005840"/>
            <a:ext cx="10972800" cy="530352"/>
          </a:xfrm>
          <a:prstGeom prst="rect">
            <a:avLst/>
          </a:prstGeom>
          <a:noFill/>
        </p:spPr>
        <p:txBody>
          <a:bodyPr wrap="square" lIns="45720" tIns="32004" rIns="45720" bIns="22860" anchor="ctr">
            <a:spAutoFit/>
          </a:bodyPr>
          <a:lstStyle/>
          <a:p>
            <a:pPr algn="l">
              <a:defRPr sz="2700" b="1">
                <a:solidFill>
                  <a:srgbClr val="102033"/>
                </a:solidFill>
                <a:latin typeface="Aptos"/>
              </a:defRPr>
            </a:pPr>
            <a:r>
              <a:t>What the prototype produced</a:t>
            </a:r>
          </a:p>
        </p:txBody>
      </p:sp>
      <p:sp>
        <p:nvSpPr>
          <p:cNvPr id="5" name="TextBox 4"/>
          <p:cNvSpPr txBox="1"/>
          <p:nvPr/>
        </p:nvSpPr>
        <p:spPr>
          <a:xfrm>
            <a:off x="612648" y="1609344"/>
            <a:ext cx="10881360" cy="329184"/>
          </a:xfrm>
          <a:prstGeom prst="rect">
            <a:avLst/>
          </a:prstGeom>
          <a:noFill/>
        </p:spPr>
        <p:txBody>
          <a:bodyPr wrap="square" lIns="45720" tIns="32004" rIns="45720" bIns="22860" anchor="ctr">
            <a:spAutoFit/>
          </a:bodyPr>
          <a:lstStyle/>
          <a:p>
            <a:pPr algn="l">
              <a:defRPr sz="1250" b="0">
                <a:solidFill>
                  <a:srgbClr val="536276"/>
                </a:solidFill>
                <a:latin typeface="Aptos"/>
              </a:defRPr>
            </a:pPr>
            <a:r>
              <a:t>Held-out test scores on generated examples — not evidence of real-world accuracy.</a:t>
            </a:r>
          </a:p>
        </p:txBody>
      </p:sp>
      <p:sp>
        <p:nvSpPr>
          <p:cNvPr id="6" name="Rectangle 5"/>
          <p:cNvSpPr/>
          <p:nvPr/>
        </p:nvSpPr>
        <p:spPr>
          <a:xfrm>
            <a:off x="566928" y="6428232"/>
            <a:ext cx="11018520" cy="10972"/>
          </a:xfrm>
          <a:prstGeom prst="rect">
            <a:avLst/>
          </a:prstGeom>
          <a:solidFill>
            <a:srgbClr val="D7DFE8"/>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92240"/>
            <a:ext cx="10424160" cy="164592"/>
          </a:xfrm>
          <a:prstGeom prst="rect">
            <a:avLst/>
          </a:prstGeom>
          <a:noFill/>
        </p:spPr>
        <p:txBody>
          <a:bodyPr wrap="square" lIns="45720" tIns="32004" rIns="45720" bIns="22860" anchor="ctr">
            <a:spAutoFit/>
          </a:bodyPr>
          <a:lstStyle/>
          <a:p>
            <a:pPr algn="l">
              <a:defRPr sz="780" b="0">
                <a:solidFill>
                  <a:srgbClr val="536276"/>
                </a:solidFill>
                <a:latin typeface="Aptos"/>
              </a:defRPr>
            </a:pPr>
            <a:r>
              <a:t>CLASSROOM PROTOTYPE   •   FICTIONAL / GENERATED DATA   •   HUMAN REVIEW REQUIRED</a:t>
            </a:r>
          </a:p>
        </p:txBody>
      </p:sp>
      <p:sp>
        <p:nvSpPr>
          <p:cNvPr id="8" name="Rectangle 7"/>
          <p:cNvSpPr/>
          <p:nvPr/>
        </p:nvSpPr>
        <p:spPr>
          <a:xfrm>
            <a:off x="713232" y="2212848"/>
            <a:ext cx="2505456" cy="438912"/>
          </a:xfrm>
          <a:prstGeom prst="rect">
            <a:avLst/>
          </a:prstGeom>
          <a:solidFill>
            <a:srgbClr val="14213A"/>
          </a:solidFill>
          <a:ln w="12700">
            <a:solidFill>
              <a:srgbClr val="142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2322576"/>
            <a:ext cx="2359151" cy="219456"/>
          </a:xfrm>
          <a:prstGeom prst="rect">
            <a:avLst/>
          </a:prstGeom>
          <a:noFill/>
        </p:spPr>
        <p:txBody>
          <a:bodyPr wrap="square" lIns="45720" tIns="32004" rIns="45720" bIns="22860" anchor="ctr">
            <a:spAutoFit/>
          </a:bodyPr>
          <a:lstStyle/>
          <a:p>
            <a:pPr algn="l">
              <a:defRPr sz="950" b="1">
                <a:solidFill>
                  <a:srgbClr val="FFFFFF"/>
                </a:solidFill>
                <a:latin typeface="Aptos"/>
              </a:defRPr>
            </a:pPr>
            <a:r>
              <a:t>MODEL</a:t>
            </a:r>
          </a:p>
        </p:txBody>
      </p:sp>
      <p:sp>
        <p:nvSpPr>
          <p:cNvPr id="10" name="Rectangle 9"/>
          <p:cNvSpPr/>
          <p:nvPr/>
        </p:nvSpPr>
        <p:spPr>
          <a:xfrm>
            <a:off x="3291840" y="2212848"/>
            <a:ext cx="1380744" cy="438912"/>
          </a:xfrm>
          <a:prstGeom prst="rect">
            <a:avLst/>
          </a:prstGeom>
          <a:solidFill>
            <a:srgbClr val="14213A"/>
          </a:solidFill>
          <a:ln w="12700">
            <a:solidFill>
              <a:srgbClr val="142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64992" y="2322576"/>
            <a:ext cx="1234440" cy="219456"/>
          </a:xfrm>
          <a:prstGeom prst="rect">
            <a:avLst/>
          </a:prstGeom>
          <a:noFill/>
        </p:spPr>
        <p:txBody>
          <a:bodyPr wrap="square" lIns="45720" tIns="32004" rIns="45720" bIns="22860" anchor="ctr">
            <a:spAutoFit/>
          </a:bodyPr>
          <a:lstStyle/>
          <a:p>
            <a:pPr algn="ctr">
              <a:defRPr sz="950" b="1">
                <a:solidFill>
                  <a:srgbClr val="FFFFFF"/>
                </a:solidFill>
                <a:latin typeface="Aptos"/>
              </a:defRPr>
            </a:pPr>
            <a:r>
              <a:t>ACCURACY</a:t>
            </a:r>
          </a:p>
        </p:txBody>
      </p:sp>
      <p:sp>
        <p:nvSpPr>
          <p:cNvPr id="12" name="Rectangle 11"/>
          <p:cNvSpPr/>
          <p:nvPr/>
        </p:nvSpPr>
        <p:spPr>
          <a:xfrm>
            <a:off x="4727448" y="2212848"/>
            <a:ext cx="1380744" cy="438912"/>
          </a:xfrm>
          <a:prstGeom prst="rect">
            <a:avLst/>
          </a:prstGeom>
          <a:solidFill>
            <a:srgbClr val="14213A"/>
          </a:solidFill>
          <a:ln w="12700">
            <a:solidFill>
              <a:srgbClr val="142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00600" y="2322576"/>
            <a:ext cx="1234440" cy="219456"/>
          </a:xfrm>
          <a:prstGeom prst="rect">
            <a:avLst/>
          </a:prstGeom>
          <a:noFill/>
        </p:spPr>
        <p:txBody>
          <a:bodyPr wrap="square" lIns="45720" tIns="32004" rIns="45720" bIns="22860" anchor="ctr">
            <a:spAutoFit/>
          </a:bodyPr>
          <a:lstStyle/>
          <a:p>
            <a:pPr algn="ctr">
              <a:defRPr sz="950" b="1">
                <a:solidFill>
                  <a:srgbClr val="FFFFFF"/>
                </a:solidFill>
                <a:latin typeface="Aptos"/>
              </a:defRPr>
            </a:pPr>
            <a:r>
              <a:t>F1 SCORE</a:t>
            </a:r>
          </a:p>
        </p:txBody>
      </p:sp>
      <p:sp>
        <p:nvSpPr>
          <p:cNvPr id="14" name="Rectangle 13"/>
          <p:cNvSpPr/>
          <p:nvPr/>
        </p:nvSpPr>
        <p:spPr>
          <a:xfrm>
            <a:off x="713232" y="2724912"/>
            <a:ext cx="2505456" cy="512064"/>
          </a:xfrm>
          <a:prstGeom prst="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4" y="2834640"/>
            <a:ext cx="2359151" cy="274320"/>
          </a:xfrm>
          <a:prstGeom prst="rect">
            <a:avLst/>
          </a:prstGeom>
          <a:noFill/>
        </p:spPr>
        <p:txBody>
          <a:bodyPr wrap="square" lIns="45720" tIns="32004" rIns="45720" bIns="22860" anchor="ctr">
            <a:spAutoFit/>
          </a:bodyPr>
          <a:lstStyle/>
          <a:p>
            <a:pPr algn="l">
              <a:defRPr sz="1050" b="1">
                <a:solidFill>
                  <a:srgbClr val="102033"/>
                </a:solidFill>
                <a:latin typeface="Aptos"/>
              </a:defRPr>
            </a:pPr>
            <a:r>
              <a:t>Traffic CNN-LSTM</a:t>
            </a:r>
          </a:p>
        </p:txBody>
      </p:sp>
      <p:sp>
        <p:nvSpPr>
          <p:cNvPr id="16" name="Rectangle 15"/>
          <p:cNvSpPr/>
          <p:nvPr/>
        </p:nvSpPr>
        <p:spPr>
          <a:xfrm>
            <a:off x="3291840" y="2724912"/>
            <a:ext cx="1380744" cy="512064"/>
          </a:xfrm>
          <a:prstGeom prst="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64992" y="2834640"/>
            <a:ext cx="1234440" cy="274320"/>
          </a:xfrm>
          <a:prstGeom prst="rect">
            <a:avLst/>
          </a:prstGeom>
          <a:noFill/>
        </p:spPr>
        <p:txBody>
          <a:bodyPr wrap="square" lIns="45720" tIns="32004" rIns="45720" bIns="22860" anchor="ctr">
            <a:spAutoFit/>
          </a:bodyPr>
          <a:lstStyle/>
          <a:p>
            <a:pPr algn="ctr">
              <a:defRPr sz="1050" b="0">
                <a:solidFill>
                  <a:srgbClr val="102033"/>
                </a:solidFill>
                <a:latin typeface="Aptos"/>
              </a:defRPr>
            </a:pPr>
            <a:r>
              <a:t>98.40%</a:t>
            </a:r>
          </a:p>
        </p:txBody>
      </p:sp>
      <p:sp>
        <p:nvSpPr>
          <p:cNvPr id="18" name="Rectangle 17"/>
          <p:cNvSpPr/>
          <p:nvPr/>
        </p:nvSpPr>
        <p:spPr>
          <a:xfrm>
            <a:off x="4727448" y="2724912"/>
            <a:ext cx="1380744" cy="512064"/>
          </a:xfrm>
          <a:prstGeom prst="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00600" y="2834640"/>
            <a:ext cx="1234440" cy="274320"/>
          </a:xfrm>
          <a:prstGeom prst="rect">
            <a:avLst/>
          </a:prstGeom>
          <a:noFill/>
        </p:spPr>
        <p:txBody>
          <a:bodyPr wrap="square" lIns="45720" tIns="32004" rIns="45720" bIns="22860" anchor="ctr">
            <a:spAutoFit/>
          </a:bodyPr>
          <a:lstStyle/>
          <a:p>
            <a:pPr algn="ctr">
              <a:defRPr sz="1050" b="0">
                <a:solidFill>
                  <a:srgbClr val="102033"/>
                </a:solidFill>
                <a:latin typeface="Aptos"/>
              </a:defRPr>
            </a:pPr>
            <a:r>
              <a:t>99.18%</a:t>
            </a:r>
          </a:p>
        </p:txBody>
      </p:sp>
      <p:sp>
        <p:nvSpPr>
          <p:cNvPr id="20" name="Rectangle 19"/>
          <p:cNvSpPr/>
          <p:nvPr/>
        </p:nvSpPr>
        <p:spPr>
          <a:xfrm>
            <a:off x="713232" y="3328416"/>
            <a:ext cx="2505456" cy="512064"/>
          </a:xfrm>
          <a:prstGeom prst="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6384" y="3438144"/>
            <a:ext cx="2359151" cy="274320"/>
          </a:xfrm>
          <a:prstGeom prst="rect">
            <a:avLst/>
          </a:prstGeom>
          <a:noFill/>
        </p:spPr>
        <p:txBody>
          <a:bodyPr wrap="square" lIns="45720" tIns="32004" rIns="45720" bIns="22860" anchor="ctr">
            <a:spAutoFit/>
          </a:bodyPr>
          <a:lstStyle/>
          <a:p>
            <a:pPr algn="l">
              <a:defRPr sz="1050" b="1">
                <a:solidFill>
                  <a:srgbClr val="102033"/>
                </a:solidFill>
                <a:latin typeface="Aptos"/>
              </a:defRPr>
            </a:pPr>
            <a:r>
              <a:t>File TF-IDF + MLP</a:t>
            </a:r>
          </a:p>
        </p:txBody>
      </p:sp>
      <p:sp>
        <p:nvSpPr>
          <p:cNvPr id="22" name="Rectangle 21"/>
          <p:cNvSpPr/>
          <p:nvPr/>
        </p:nvSpPr>
        <p:spPr>
          <a:xfrm>
            <a:off x="3291840" y="3328416"/>
            <a:ext cx="1380744" cy="512064"/>
          </a:xfrm>
          <a:prstGeom prst="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64992" y="3438144"/>
            <a:ext cx="1234440" cy="274320"/>
          </a:xfrm>
          <a:prstGeom prst="rect">
            <a:avLst/>
          </a:prstGeom>
          <a:noFill/>
        </p:spPr>
        <p:txBody>
          <a:bodyPr wrap="square" lIns="45720" tIns="32004" rIns="45720" bIns="22860" anchor="ctr">
            <a:spAutoFit/>
          </a:bodyPr>
          <a:lstStyle/>
          <a:p>
            <a:pPr algn="ctr">
              <a:defRPr sz="1050" b="0">
                <a:solidFill>
                  <a:srgbClr val="102033"/>
                </a:solidFill>
                <a:latin typeface="Aptos"/>
              </a:defRPr>
            </a:pPr>
            <a:r>
              <a:t>99.92%</a:t>
            </a:r>
          </a:p>
        </p:txBody>
      </p:sp>
      <p:sp>
        <p:nvSpPr>
          <p:cNvPr id="24" name="Rectangle 23"/>
          <p:cNvSpPr/>
          <p:nvPr/>
        </p:nvSpPr>
        <p:spPr>
          <a:xfrm>
            <a:off x="4727448" y="3328416"/>
            <a:ext cx="1380744" cy="512064"/>
          </a:xfrm>
          <a:prstGeom prst="rect">
            <a:avLst/>
          </a:prstGeom>
          <a:solidFill>
            <a:srgbClr val="F3F6F9"/>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00600" y="3438144"/>
            <a:ext cx="1234440" cy="274320"/>
          </a:xfrm>
          <a:prstGeom prst="rect">
            <a:avLst/>
          </a:prstGeom>
          <a:noFill/>
        </p:spPr>
        <p:txBody>
          <a:bodyPr wrap="square" lIns="45720" tIns="32004" rIns="45720" bIns="22860" anchor="ctr">
            <a:spAutoFit/>
          </a:bodyPr>
          <a:lstStyle/>
          <a:p>
            <a:pPr algn="ctr">
              <a:defRPr sz="1050" b="0">
                <a:solidFill>
                  <a:srgbClr val="102033"/>
                </a:solidFill>
                <a:latin typeface="Aptos"/>
              </a:defRPr>
            </a:pPr>
            <a:r>
              <a:t>99.92%</a:t>
            </a:r>
          </a:p>
        </p:txBody>
      </p:sp>
      <p:sp>
        <p:nvSpPr>
          <p:cNvPr id="26" name="Rounded Rectangle 25"/>
          <p:cNvSpPr/>
          <p:nvPr/>
        </p:nvSpPr>
        <p:spPr>
          <a:xfrm>
            <a:off x="713232" y="4142232"/>
            <a:ext cx="5440680" cy="868680"/>
          </a:xfrm>
          <a:prstGeom prst="roundRect">
            <a:avLst/>
          </a:prstGeom>
          <a:solidFill>
            <a:srgbClr val="FFF7E9"/>
          </a:solidFill>
          <a:ln w="12700">
            <a:solidFill>
              <a:srgbClr val="F0D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41832" y="4306824"/>
            <a:ext cx="4983480" cy="512064"/>
          </a:xfrm>
          <a:prstGeom prst="rect">
            <a:avLst/>
          </a:prstGeom>
          <a:noFill/>
        </p:spPr>
        <p:txBody>
          <a:bodyPr wrap="square" lIns="45720" tIns="32004" rIns="45720" bIns="22860" anchor="ctr">
            <a:spAutoFit/>
          </a:bodyPr>
          <a:lstStyle/>
          <a:p>
            <a:pPr algn="ctr">
              <a:defRPr sz="1200" b="1">
                <a:solidFill>
                  <a:srgbClr val="102033"/>
                </a:solidFill>
                <a:latin typeface="Aptos"/>
              </a:defRPr>
            </a:pPr>
            <a:r>
              <a:t>These scores describe generated test examples only. Real-world performance is unknown.</a:t>
            </a:r>
          </a:p>
        </p:txBody>
      </p:sp>
      <p:sp>
        <p:nvSpPr>
          <p:cNvPr id="28" name="TextBox 27"/>
          <p:cNvSpPr txBox="1"/>
          <p:nvPr/>
        </p:nvSpPr>
        <p:spPr>
          <a:xfrm>
            <a:off x="6473952" y="2121408"/>
            <a:ext cx="4846320" cy="246888"/>
          </a:xfrm>
          <a:prstGeom prst="rect">
            <a:avLst/>
          </a:prstGeom>
          <a:noFill/>
        </p:spPr>
        <p:txBody>
          <a:bodyPr wrap="square" lIns="45720" tIns="32004" rIns="45720" bIns="22860" anchor="ctr">
            <a:spAutoFit/>
          </a:bodyPr>
          <a:lstStyle/>
          <a:p>
            <a:pPr algn="ctr">
              <a:defRPr sz="1000" b="1">
                <a:solidFill>
                  <a:srgbClr val="168A8A"/>
                </a:solidFill>
                <a:latin typeface="Aptos"/>
              </a:defRPr>
            </a:pPr>
            <a:r>
              <a:t>SAMPLE CASE GRAPH</a:t>
            </a:r>
          </a:p>
        </p:txBody>
      </p:sp>
      <p:sp>
        <p:nvSpPr>
          <p:cNvPr id="29" name="Rounded Rectangle 28"/>
          <p:cNvSpPr/>
          <p:nvPr/>
        </p:nvSpPr>
        <p:spPr>
          <a:xfrm>
            <a:off x="6446520" y="2468880"/>
            <a:ext cx="4892040" cy="2770632"/>
          </a:xfrm>
          <a:prstGeom prst="roundRect">
            <a:avLst/>
          </a:prstGeom>
          <a:solidFill>
            <a:srgbClr val="102033"/>
          </a:solidFill>
          <a:ln w="12700">
            <a:solidFill>
              <a:srgbClr val="1020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a:off x="7360919" y="3236976"/>
            <a:ext cx="2112265" cy="694944"/>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370063" y="3931920"/>
            <a:ext cx="2103121" cy="320040"/>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370063" y="3931920"/>
            <a:ext cx="2103121" cy="1133856"/>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360919" y="2889504"/>
            <a:ext cx="1325881" cy="347472"/>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370063" y="4251960"/>
            <a:ext cx="1298448" cy="813816"/>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8668511" y="2889504"/>
            <a:ext cx="18289" cy="2176272"/>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360919" y="3236976"/>
            <a:ext cx="813817" cy="457200"/>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370063" y="3694176"/>
            <a:ext cx="804673" cy="557784"/>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370063" y="4251960"/>
            <a:ext cx="3017521" cy="521208"/>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0387584" y="3950208"/>
            <a:ext cx="374904" cy="822960"/>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370063" y="2962656"/>
            <a:ext cx="3026665" cy="1289304"/>
          </a:xfrm>
          <a:prstGeom prst="line">
            <a:avLst/>
          </a:prstGeom>
          <a:ln w="14604">
            <a:solidFill>
              <a:srgbClr val="70829C"/>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912864" y="3054096"/>
            <a:ext cx="896112" cy="365760"/>
          </a:xfrm>
          <a:prstGeom prst="roundRect">
            <a:avLst/>
          </a:prstGeom>
          <a:solidFill>
            <a:srgbClr val="B84F59"/>
          </a:solidFill>
          <a:ln w="12700">
            <a:solidFill>
              <a:srgbClr val="B84F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35724" y="3086100"/>
            <a:ext cx="850392" cy="301752"/>
          </a:xfrm>
          <a:prstGeom prst="rect">
            <a:avLst/>
          </a:prstGeom>
          <a:noFill/>
        </p:spPr>
        <p:txBody>
          <a:bodyPr wrap="square" lIns="45720" tIns="32004" rIns="45720" bIns="22860" anchor="ctr">
            <a:spAutoFit/>
          </a:bodyPr>
          <a:lstStyle/>
          <a:p>
            <a:pPr algn="ctr">
              <a:defRPr sz="720" b="1">
                <a:solidFill>
                  <a:srgbClr val="FFFFFF"/>
                </a:solidFill>
                <a:latin typeface="Aptos"/>
              </a:defRPr>
            </a:pPr>
            <a:r>
              <a:t>John Mercer</a:t>
            </a:r>
          </a:p>
        </p:txBody>
      </p:sp>
      <p:sp>
        <p:nvSpPr>
          <p:cNvPr id="43" name="Rounded Rectangle 42"/>
          <p:cNvSpPr/>
          <p:nvPr/>
        </p:nvSpPr>
        <p:spPr>
          <a:xfrm>
            <a:off x="6912864" y="4069080"/>
            <a:ext cx="914400" cy="365760"/>
          </a:xfrm>
          <a:prstGeom prst="roundRect">
            <a:avLst/>
          </a:prstGeom>
          <a:solidFill>
            <a:srgbClr val="B84F59"/>
          </a:solidFill>
          <a:ln w="12700">
            <a:solidFill>
              <a:srgbClr val="B84F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35724" y="4101084"/>
            <a:ext cx="868680" cy="301752"/>
          </a:xfrm>
          <a:prstGeom prst="rect">
            <a:avLst/>
          </a:prstGeom>
          <a:noFill/>
        </p:spPr>
        <p:txBody>
          <a:bodyPr wrap="square" lIns="45720" tIns="32004" rIns="45720" bIns="22860" anchor="ctr">
            <a:spAutoFit/>
          </a:bodyPr>
          <a:lstStyle/>
          <a:p>
            <a:pPr algn="ctr">
              <a:defRPr sz="720" b="1">
                <a:solidFill>
                  <a:srgbClr val="FFFFFF"/>
                </a:solidFill>
                <a:latin typeface="Aptos"/>
              </a:defRPr>
            </a:pPr>
            <a:r>
              <a:t>Marcus Vance</a:t>
            </a:r>
          </a:p>
        </p:txBody>
      </p:sp>
      <p:sp>
        <p:nvSpPr>
          <p:cNvPr id="45" name="Rounded Rectangle 44"/>
          <p:cNvSpPr/>
          <p:nvPr/>
        </p:nvSpPr>
        <p:spPr>
          <a:xfrm>
            <a:off x="6912864" y="4882896"/>
            <a:ext cx="914400" cy="365760"/>
          </a:xfrm>
          <a:prstGeom prst="roundRect">
            <a:avLst/>
          </a:prstGeom>
          <a:solidFill>
            <a:srgbClr val="B84F59"/>
          </a:solidFill>
          <a:ln w="12700">
            <a:solidFill>
              <a:srgbClr val="B84F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935724" y="4914900"/>
            <a:ext cx="868680" cy="301752"/>
          </a:xfrm>
          <a:prstGeom prst="rect">
            <a:avLst/>
          </a:prstGeom>
          <a:noFill/>
        </p:spPr>
        <p:txBody>
          <a:bodyPr wrap="square" lIns="45720" tIns="32004" rIns="45720" bIns="22860" anchor="ctr">
            <a:spAutoFit/>
          </a:bodyPr>
          <a:lstStyle/>
          <a:p>
            <a:pPr algn="ctr">
              <a:defRPr sz="720" b="1">
                <a:solidFill>
                  <a:srgbClr val="FFFFFF"/>
                </a:solidFill>
                <a:latin typeface="Aptos"/>
              </a:defRPr>
            </a:pPr>
            <a:r>
              <a:t>Elena Rostova</a:t>
            </a:r>
          </a:p>
        </p:txBody>
      </p:sp>
      <p:sp>
        <p:nvSpPr>
          <p:cNvPr id="47" name="Rounded Rectangle 46"/>
          <p:cNvSpPr/>
          <p:nvPr/>
        </p:nvSpPr>
        <p:spPr>
          <a:xfrm>
            <a:off x="8302752" y="2706624"/>
            <a:ext cx="768096" cy="365760"/>
          </a:xfrm>
          <a:prstGeom prst="roundRect">
            <a:avLst/>
          </a:prstGeom>
          <a:solidFill>
            <a:srgbClr val="467FAF"/>
          </a:solidFill>
          <a:ln w="12700">
            <a:solidFill>
              <a:srgbClr val="467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325612" y="2738628"/>
            <a:ext cx="722375" cy="301752"/>
          </a:xfrm>
          <a:prstGeom prst="rect">
            <a:avLst/>
          </a:prstGeom>
          <a:noFill/>
        </p:spPr>
        <p:txBody>
          <a:bodyPr wrap="square" lIns="45720" tIns="32004" rIns="45720" bIns="22860" anchor="ctr">
            <a:spAutoFit/>
          </a:bodyPr>
          <a:lstStyle/>
          <a:p>
            <a:pPr algn="ctr">
              <a:defRPr sz="720" b="1">
                <a:solidFill>
                  <a:srgbClr val="FFFFFF"/>
                </a:solidFill>
                <a:latin typeface="Aptos"/>
              </a:defRPr>
            </a:pPr>
            <a:r>
              <a:t>Phone 01</a:t>
            </a:r>
          </a:p>
        </p:txBody>
      </p:sp>
      <p:sp>
        <p:nvSpPr>
          <p:cNvPr id="49" name="Rounded Rectangle 48"/>
          <p:cNvSpPr/>
          <p:nvPr/>
        </p:nvSpPr>
        <p:spPr>
          <a:xfrm>
            <a:off x="8266175" y="4882896"/>
            <a:ext cx="804672" cy="365760"/>
          </a:xfrm>
          <a:prstGeom prst="roundRect">
            <a:avLst/>
          </a:prstGeom>
          <a:solidFill>
            <a:srgbClr val="467FAF"/>
          </a:solidFill>
          <a:ln w="12700">
            <a:solidFill>
              <a:srgbClr val="467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89036" y="4914900"/>
            <a:ext cx="758952" cy="301752"/>
          </a:xfrm>
          <a:prstGeom prst="rect">
            <a:avLst/>
          </a:prstGeom>
          <a:noFill/>
        </p:spPr>
        <p:txBody>
          <a:bodyPr wrap="square" lIns="45720" tIns="32004" rIns="45720" bIns="22860" anchor="ctr">
            <a:spAutoFit/>
          </a:bodyPr>
          <a:lstStyle/>
          <a:p>
            <a:pPr algn="ctr">
              <a:defRPr sz="720" b="1">
                <a:solidFill>
                  <a:srgbClr val="FFFFFF"/>
                </a:solidFill>
                <a:latin typeface="Aptos"/>
              </a:defRPr>
            </a:pPr>
            <a:r>
              <a:t>Phone 02</a:t>
            </a:r>
          </a:p>
        </p:txBody>
      </p:sp>
      <p:sp>
        <p:nvSpPr>
          <p:cNvPr id="51" name="Rounded Rectangle 50"/>
          <p:cNvSpPr/>
          <p:nvPr/>
        </p:nvSpPr>
        <p:spPr>
          <a:xfrm>
            <a:off x="7662672" y="3511296"/>
            <a:ext cx="1024128" cy="365760"/>
          </a:xfrm>
          <a:prstGeom prst="roundRect">
            <a:avLst/>
          </a:prstGeom>
          <a:solidFill>
            <a:srgbClr val="477F62"/>
          </a:solidFill>
          <a:ln w="12700">
            <a:solidFill>
              <a:srgbClr val="477F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685532" y="3543300"/>
            <a:ext cx="978408" cy="301752"/>
          </a:xfrm>
          <a:prstGeom prst="rect">
            <a:avLst/>
          </a:prstGeom>
          <a:noFill/>
        </p:spPr>
        <p:txBody>
          <a:bodyPr wrap="square" lIns="45720" tIns="32004" rIns="45720" bIns="22860" anchor="ctr">
            <a:spAutoFit/>
          </a:bodyPr>
          <a:lstStyle/>
          <a:p>
            <a:pPr algn="ctr">
              <a:defRPr sz="720" b="1">
                <a:solidFill>
                  <a:srgbClr val="FFFFFF"/>
                </a:solidFill>
                <a:latin typeface="Aptos"/>
              </a:defRPr>
            </a:pPr>
            <a:r>
              <a:t>Central Station</a:t>
            </a:r>
          </a:p>
        </p:txBody>
      </p:sp>
      <p:sp>
        <p:nvSpPr>
          <p:cNvPr id="53" name="Rounded Rectangle 52"/>
          <p:cNvSpPr/>
          <p:nvPr/>
        </p:nvSpPr>
        <p:spPr>
          <a:xfrm>
            <a:off x="8887968" y="3694176"/>
            <a:ext cx="1170432" cy="475488"/>
          </a:xfrm>
          <a:prstGeom prst="roundRect">
            <a:avLst/>
          </a:prstGeom>
          <a:solidFill>
            <a:srgbClr val="168A8A"/>
          </a:solidFill>
          <a:ln w="12700">
            <a:solidFill>
              <a:srgbClr val="168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910828" y="3726180"/>
            <a:ext cx="1124712" cy="411480"/>
          </a:xfrm>
          <a:prstGeom prst="rect">
            <a:avLst/>
          </a:prstGeom>
          <a:noFill/>
        </p:spPr>
        <p:txBody>
          <a:bodyPr wrap="square" lIns="45720" tIns="32004" rIns="45720" bIns="22860" anchor="ctr">
            <a:spAutoFit/>
          </a:bodyPr>
          <a:lstStyle/>
          <a:p>
            <a:pPr algn="ctr">
              <a:defRPr sz="720" b="1">
                <a:solidFill>
                  <a:srgbClr val="FFFFFF"/>
                </a:solidFill>
                <a:latin typeface="Aptos"/>
              </a:defRPr>
            </a:pPr>
            <a:r>
              <a:t>Blackout Case</a:t>
            </a:r>
          </a:p>
        </p:txBody>
      </p:sp>
      <p:sp>
        <p:nvSpPr>
          <p:cNvPr id="55" name="Rounded Rectangle 54"/>
          <p:cNvSpPr/>
          <p:nvPr/>
        </p:nvSpPr>
        <p:spPr>
          <a:xfrm>
            <a:off x="9985248" y="2779776"/>
            <a:ext cx="822960" cy="365760"/>
          </a:xfrm>
          <a:prstGeom prst="roundRect">
            <a:avLst/>
          </a:prstGeom>
          <a:solidFill>
            <a:srgbClr val="9867A8"/>
          </a:solidFill>
          <a:ln w="12700">
            <a:solidFill>
              <a:srgbClr val="9867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008108" y="2811780"/>
            <a:ext cx="777240" cy="301752"/>
          </a:xfrm>
          <a:prstGeom prst="rect">
            <a:avLst/>
          </a:prstGeom>
          <a:noFill/>
        </p:spPr>
        <p:txBody>
          <a:bodyPr wrap="square" lIns="45720" tIns="32004" rIns="45720" bIns="22860" anchor="ctr">
            <a:spAutoFit/>
          </a:bodyPr>
          <a:lstStyle/>
          <a:p>
            <a:pPr algn="ctr">
              <a:defRPr sz="720" b="1">
                <a:solidFill>
                  <a:srgbClr val="FFFFFF"/>
                </a:solidFill>
                <a:latin typeface="Aptos"/>
              </a:defRPr>
            </a:pPr>
            <a:r>
              <a:t>Payload file</a:t>
            </a:r>
          </a:p>
        </p:txBody>
      </p:sp>
      <p:sp>
        <p:nvSpPr>
          <p:cNvPr id="57" name="Rounded Rectangle 56"/>
          <p:cNvSpPr/>
          <p:nvPr/>
        </p:nvSpPr>
        <p:spPr>
          <a:xfrm>
            <a:off x="9875520" y="4590288"/>
            <a:ext cx="1024128" cy="365760"/>
          </a:xfrm>
          <a:prstGeom prst="roundRect">
            <a:avLst/>
          </a:prstGeom>
          <a:solidFill>
            <a:srgbClr val="7967B6"/>
          </a:solidFill>
          <a:ln w="12700">
            <a:solidFill>
              <a:srgbClr val="796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898380" y="4622292"/>
            <a:ext cx="978408" cy="301752"/>
          </a:xfrm>
          <a:prstGeom prst="rect">
            <a:avLst/>
          </a:prstGeom>
          <a:noFill/>
        </p:spPr>
        <p:txBody>
          <a:bodyPr wrap="square" lIns="45720" tIns="32004" rIns="45720" bIns="22860" anchor="ctr">
            <a:spAutoFit/>
          </a:bodyPr>
          <a:lstStyle/>
          <a:p>
            <a:pPr algn="ctr">
              <a:defRPr sz="720" b="1">
                <a:solidFill>
                  <a:srgbClr val="FFFFFF"/>
                </a:solidFill>
                <a:latin typeface="Aptos"/>
              </a:defRPr>
            </a:pPr>
            <a:r>
              <a:t>192.168.1.105</a:t>
            </a:r>
          </a:p>
        </p:txBody>
      </p:sp>
      <p:sp>
        <p:nvSpPr>
          <p:cNvPr id="59" name="Rounded Rectangle 58"/>
          <p:cNvSpPr/>
          <p:nvPr/>
        </p:nvSpPr>
        <p:spPr>
          <a:xfrm>
            <a:off x="10241280" y="3767328"/>
            <a:ext cx="1042415" cy="365760"/>
          </a:xfrm>
          <a:prstGeom prst="roundRect">
            <a:avLst/>
          </a:prstGeom>
          <a:solidFill>
            <a:srgbClr val="7967B6"/>
          </a:solidFill>
          <a:ln w="12700">
            <a:solidFill>
              <a:srgbClr val="7967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264140" y="3799332"/>
            <a:ext cx="996695" cy="301752"/>
          </a:xfrm>
          <a:prstGeom prst="rect">
            <a:avLst/>
          </a:prstGeom>
          <a:noFill/>
        </p:spPr>
        <p:txBody>
          <a:bodyPr wrap="square" lIns="45720" tIns="32004" rIns="45720" bIns="22860" anchor="ctr">
            <a:spAutoFit/>
          </a:bodyPr>
          <a:lstStyle/>
          <a:p>
            <a:pPr algn="ctr">
              <a:defRPr sz="720" b="1">
                <a:solidFill>
                  <a:srgbClr val="FFFFFF"/>
                </a:solidFill>
                <a:latin typeface="Aptos"/>
              </a:defRPr>
            </a:pPr>
            <a:r>
              <a:t>198.51.100.22</a:t>
            </a:r>
          </a:p>
        </p:txBody>
      </p:sp>
      <p:sp>
        <p:nvSpPr>
          <p:cNvPr id="61" name="TextBox 60"/>
          <p:cNvSpPr txBox="1"/>
          <p:nvPr/>
        </p:nvSpPr>
        <p:spPr>
          <a:xfrm>
            <a:off x="6446520" y="5330952"/>
            <a:ext cx="4901184" cy="237744"/>
          </a:xfrm>
          <a:prstGeom prst="rect">
            <a:avLst/>
          </a:prstGeom>
          <a:noFill/>
        </p:spPr>
        <p:txBody>
          <a:bodyPr wrap="square" lIns="45720" tIns="32004" rIns="45720" bIns="22860" anchor="ctr">
            <a:spAutoFit/>
          </a:bodyPr>
          <a:lstStyle/>
          <a:p>
            <a:pPr algn="ctr">
              <a:defRPr sz="880" b="0">
                <a:solidFill>
                  <a:srgbClr val="536276"/>
                </a:solidFill>
                <a:latin typeface="Aptos"/>
              </a:defRPr>
            </a:pPr>
            <a:r>
              <a:t>Fictional seeded case • simplified Streamlit / Graphviz illustration</a:t>
            </a:r>
          </a:p>
        </p:txBody>
      </p:sp>
      <p:sp>
        <p:nvSpPr>
          <p:cNvPr id="62" name="TextBox 61"/>
          <p:cNvSpPr txBox="1"/>
          <p:nvPr/>
        </p:nvSpPr>
        <p:spPr>
          <a:xfrm>
            <a:off x="850392" y="5833872"/>
            <a:ext cx="10515600" cy="292608"/>
          </a:xfrm>
          <a:prstGeom prst="rect">
            <a:avLst/>
          </a:prstGeom>
          <a:noFill/>
        </p:spPr>
        <p:txBody>
          <a:bodyPr wrap="square" lIns="45720" tIns="32004" rIns="45720" bIns="22860" anchor="ctr">
            <a:spAutoFit/>
          </a:bodyPr>
          <a:lstStyle/>
          <a:p>
            <a:pPr algn="ctr">
              <a:defRPr sz="1120" b="1">
                <a:solidFill>
                  <a:srgbClr val="477F62"/>
                </a:solidFill>
                <a:latin typeface="Aptos"/>
              </a:defRPr>
            </a:pPr>
            <a:r>
              <a:t>Next: test on suitable real datasets • independently validate • improve security and storage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850</Words>
  <Application>Microsoft Office PowerPoint</Application>
  <PresentationFormat>Widescreen</PresentationFormat>
  <Paragraphs>114</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Shalini.R ECE</cp:lastModifiedBy>
  <cp:revision>2</cp:revision>
  <dcterms:created xsi:type="dcterms:W3CDTF">2013-01-27T09:14:16Z</dcterms:created>
  <dcterms:modified xsi:type="dcterms:W3CDTF">2026-10-07T07:02:04Z</dcterms:modified>
  <cp:category/>
</cp:coreProperties>
</file>